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7315200" cy="6858000"/>
          </a:xfrm>
          <a:prstGeom prst="rect">
            <a:avLst/>
          </a:prstGeom>
          <a:solidFill>
            <a:srgbClr val="1A0A3D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solidFill>
            <a:srgbClr val="1E1040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14400" y="1005840"/>
            <a:ext cx="34747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spc="300" kern="0" dirty="0">
                <a:solidFill>
                  <a:srgbClr val="A78BFA"/>
                </a:solidFill>
              </a:rPr>
              <a:t>COMMERCIAL FEATURE OVERVIEW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457200" y="1645920"/>
            <a:ext cx="73152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4400" b="1" spc="-100" kern="0" dirty="0">
                <a:solidFill>
                  <a:srgbClr val="FFFFFF"/>
                </a:solidFill>
              </a:rPr>
              <a:t>Bitsauto VoIP Intelligence Platform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457200" y="3154680"/>
            <a:ext cx="7315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A78BFA"/>
                </a:solidFill>
              </a:rPr>
              <a:t>Top 11 High-Impact Commercial Features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457200" y="3749040"/>
            <a:ext cx="6858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889"/>
                </a:solidFill>
              </a:rPr>
              <a:t>Built for carrier-grade operations, designed for commercial scale.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solidFill>
            <a:srgbClr val="7C3AED">
              <a:alpha val="15000"/>
            </a:srgbClr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Carrier-Grade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solidFill>
            <a:srgbClr val="06B6D4">
              <a:alpha val="15000"/>
            </a:srgbClr>
          </a:solidFill>
          <a:ln w="12700">
            <a:solidFill>
              <a:srgbClr val="06B6D4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33172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Real-Time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solidFill>
            <a:srgbClr val="10B981">
              <a:alpha val="15000"/>
            </a:srgbClr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0624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Production-Safe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solidFill>
            <a:srgbClr val="F59E0B">
              <a:alpha val="15000"/>
            </a:srgbClr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389120"/>
            <a:ext cx="1737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</a:rPr>
              <a:t>Enterprise-Ready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57200" y="6309360"/>
            <a:ext cx="112471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Bitsauto · Carrier Intelligence, Commercially Engineered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Approval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Change governance for live carrier networks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59E0B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Every sensitive action — routing changes, rate card edits, IP management, DID assignments — is queued for admin review before being applied to the switch.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before/after state is captured with reviewer identity, timestamp, and rollback capability on every approved or rejected request.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per action type: create, edit, and delete can each be independently gated, giving precise control without blocking routine operations.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Risk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0670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94%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Rollback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59E0B">
              <a:alpha val="6000"/>
            </a:srgbClr>
          </a:solidFill>
          <a:ln w="12700">
            <a:solidFill>
              <a:srgbClr val="F59E0B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59E0B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mandate change governance. This feature alone moves Bitsauto from "monitoring tool" to "operational platform" in a vendor evaluation.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01 / 11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02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FAS / IRSF Fraud Detection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Real-time revenue protection with auto-blacklisting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F444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Continuously analyses live CDR data to identify False Answer Supervision — calls billed as answered but with no real voice path established.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IRSF pattern detection flags unusual traffic spikes to high-cost international destinations, triggering automatic CLI and IP blacklisting within seconds.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F444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sensitivity thresholds and whitelist rules prevent false positives while maintaining protection against genuine fraud vectors.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Fraud Detected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Auto-blocked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29891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91%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Revenue Saved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176272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F4444">
              <a:alpha val="6000"/>
            </a:srgbClr>
          </a:solidFill>
          <a:ln w="12700">
            <a:solidFill>
              <a:srgbClr val="EF444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F444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wholesale VoIP, FAS and IRSF fraud causes direct margin loss measurable in hundreds of thousands per month. The ROI on this feature is immediate and demonstrable to a CFO.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02 / 11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03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BitsEye Revenue &amp; Margin Analytics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Live drill-down from carrier KPIs to per-account profitability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Breaks down traffic, ASR, ACD, MOS scores, and route quality by client, vendor, destination, and time window — live, not batch-processed overnight.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Revenue and cost data are overlaid on the same view, surfacing margin per route and per client in real time without requiring a BI tool or spreadsheet export.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Drill-down from summary KPIs to individual call detail gives operations and commercial teams the same single source of truth.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Data Freshness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Decision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Margin 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432304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95%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Most carriers currently run revenue analytics in spreadsheets with 24-hour lag. Replacing that with live drill-down analytics is a flagship differentiator for commercial and finance buyers.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03 / 11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04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LCR Analyser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Least-cost routing analysis with policy simulation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8B5CF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Compares route costs, quality scores (ASR, ACD, PDD), and coverage across all active vendor connections to identify the optimal routing path for any destination prefix.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Built-in Policy Simulator lets operators test routing changes in a sandboxed environment and preview the cost and quality impact before committing to the live switch.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8B5CF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Coverage Checker validates prefix-level route availability across all routing groups, surfacing gaps before they cause failed calls.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Cost Reduction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1997050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78%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Route Coverage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Simulation Accuracy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55494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8B5CF6">
              <a:alpha val="6000"/>
            </a:srgbClr>
          </a:solidFill>
          <a:ln w="12700">
            <a:solidFill>
              <a:srgbClr val="8B5CF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8B5CF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LCR optimisation directly compresses cost of goods. A 5% improvement in routing efficiency on a carrier doing $500K/month revenue translates to $25K/month in margin recovery.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04 / 11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05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KAM Hierarchy &amp; Account Scoping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Organisational hierarchy with enforced data boundaries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6B6D4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 6-level org tree (HOD → SVP → VP → Manager → Team Lead → KAM) with account assignments at each level — every user sees only their own scope, enforced at the API layer.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KAMs are automatically assigned live traffic, balance, and CDR data for their accounts only, making accountability clear without manual filtering.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6B6D4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Leadership views aggregate data across the full tree, giving management visibility while maintaining role discipline at the operational level.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 Isolation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Accountability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38109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Speed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099462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82%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6B6D4">
              <a:alpha val="6000"/>
            </a:srgbClr>
          </a:solidFill>
          <a:ln w="12700">
            <a:solidFill>
              <a:srgbClr val="06B6D4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6B6D4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For carriers with sales teams and resellers, this replaces custom-built CRM integrations and manual account segmentation. Sales directors close faster when they can show clients their own data in isolation.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05 / 11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06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Multi-Switch Consolidated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Single pane of glass across all softswitch instances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F9731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Aggregates live call data, KPIs, routing state, and alerts from multiple Sippy switch instances into a single unified dashboard — no tab switching between admin portals.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Per-switch health indicators surface capacity utilisation, registration counts, and alarm states in real time, enabling cross-switch traffic balancing decisions.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F9731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comparison between switches identifies diverging performance patterns before they cause service degradation.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Ops Efficiency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27478" cy="146304"/>
          </a:xfrm>
          <a:prstGeom prst="rect">
            <a:avLst/>
          </a:prstGeom>
          <a:solidFill>
            <a:srgbClr val="F9731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97316"/>
                </a:solidFill>
              </a:rPr>
              <a:t>87%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MTTR Reduction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189463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74%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Visibility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F97316">
              <a:alpha val="6000"/>
            </a:srgbClr>
          </a:solidFill>
          <a:ln w="12700">
            <a:solidFill>
              <a:srgbClr val="F9731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F9731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Carriers with geographic redundancy or backup switches currently operate multiple admin sessions. Consolidation into one view reduces NOC headcount requirements and is a strong enterprise selling point.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06 / 11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07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Real-Time NOC Command View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Cinematic operations center built for 24/7 environments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EC489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Full-screen, minimal-chrome display purpose-built for large NOC monitors — live call counters, MOS gauges, ASR trend lines, and active incident ticker all in one view.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Dark-room optimised layout with high-contrast colours reduces operator eye strain during extended shifts while maintaining information density.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EC489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WebSocket-powered updates mean the NOC view never requires a page refresh — data streams continuously without polling artifacts or missed events.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Operator Reaction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329891" cy="146304"/>
          </a:xfrm>
          <a:prstGeom prst="rect">
            <a:avLst/>
          </a:prstGeom>
          <a:solidFill>
            <a:srgbClr val="EC489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C4899"/>
                </a:solidFill>
              </a:rPr>
              <a:t>91%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Incident Detection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EF444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Uptime Confidence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534717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EC4899">
              <a:alpha val="6000"/>
            </a:srgbClr>
          </a:solidFill>
          <a:ln w="12700">
            <a:solidFill>
              <a:srgbClr val="EC489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EC489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a sales demonstration, the NOC view is the single most visually impressive feature. Buyers with physical NOC rooms respond immediately — it signals that the platform was purpose-built for serious carrier operations.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07 / 11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08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GDPR Compliance Engine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Automated data retention, deletion tracking, and audit log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4B8A6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Configurable retention policies per data type (CDRs, alerts, fraud events, call metrics) run as an hourly background job, automatically purging data beyond the retention window.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Deletion requests are tracked, processed, and logged with full audit trail — the Compliance Dashboard shows live deletion counts, policy coverage, and outstanding requests.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4B8A6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Recording server HTTPS status, blacklist coverage, and retention compliance are aggregated into a single compliance score visible to management.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Policy Coverage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4B8A6"/>
                </a:solidFill>
              </a:rPr>
              <a:t>100%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Audit Completeness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09114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98%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Legal Risk Reduction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78685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89%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4B8A6">
              <a:alpha val="6000"/>
            </a:srgbClr>
          </a:solidFill>
          <a:ln w="12700">
            <a:solidFill>
              <a:srgbClr val="14B8A6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4B8A6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Data protection compliance is a legal requirement in every major market. This removes the need for a separate compliance tool and reduces legal exposure — making it easy to justify the platform cost to a legal or compliance committee.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08 / 11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09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Role-Based Access Control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Granular 44-feature permissions with per-user toggle control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A855F7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Three-tier role system (Admin / Management / Viewer) where Admins configure exactly which of 44 platform features each Management user can access — per person, not per role.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Monitoring assignments give Viewer-role users scoped access to specific accounts and data areas without exposing the full platform.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A855F7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All permission decisions are enforced server-side at the API layer — the UI respects permissions but the backend enforces them independently.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Feature Granularity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253082" cy="146304"/>
          </a:xfrm>
          <a:prstGeom prst="rect">
            <a:avLst/>
          </a:prstGeom>
          <a:solidFill>
            <a:srgbClr val="A855F7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A855F7"/>
                </a:solidFill>
              </a:rPr>
              <a:t>44 features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Server Enforcement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100%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Onboarding Clarity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04288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90%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A855F7">
              <a:alpha val="6000"/>
            </a:srgbClr>
          </a:solidFill>
          <a:ln w="12700">
            <a:solidFill>
              <a:srgbClr val="A855F7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A855F7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Enterprise procurement teams always ask "who can see what?" A fine-grained RBAC system supports multi-team deployments, reseller scenarios, and outsourced NOC models — all of which are standard in carrier environments.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09 / 11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10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Vendor SLA Scorecard &amp; Billing Dispute Tracker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Vendor accountability with structured cost recovery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0EA5E9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Automated SLA monitoring tracks ASR, ACD, and MOS per vendor connection against configured thresholds — breach events are logged with timestamp, duration, and severity for every vendor.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The Billing Dispute Tracker provides a structured workflow to log, document, and track disputes through to resolution, with linked CDR evidence and timeline records.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Historical SLA trend data gives procurement teams quantitative leverage in vendor negotiations — replacing informal email threads with auditable performance records.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SLA Visibility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2483510" cy="146304"/>
          </a:xfrm>
          <a:prstGeom prst="rect">
            <a:avLst/>
          </a:prstGeom>
          <a:solidFill>
            <a:srgbClr val="0EA5E9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EA5E9"/>
                </a:solidFill>
              </a:rPr>
              <a:t>97%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Dispute Resolution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125066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83%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Negotiation Leverage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329891" cy="14630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F59E0B"/>
                </a:solidFill>
              </a:rPr>
              <a:t>91%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0EA5E9">
              <a:alpha val="6000"/>
            </a:srgbClr>
          </a:solidFill>
          <a:ln w="12700">
            <a:solidFill>
              <a:srgbClr val="0EA5E9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0EA5E9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In margin-compressed wholesale VoIP, recovering costs from SLA breaches and billing disputes has a direct, calculable dollar value. Finance committees approve platforms that pay for themselves.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10 / 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54864" cy="685800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4" name="Shape 2"/>
          <p:cNvSpPr/>
          <p:nvPr/>
        </p:nvSpPr>
        <p:spPr>
          <a:xfrm>
            <a:off x="54864" y="0"/>
            <a:ext cx="5888736" cy="6858000"/>
          </a:xfrm>
          <a:prstGeom prst="rect">
            <a:avLst/>
          </a:prstGeom>
          <a:solidFill>
            <a:srgbClr val="0F0D1F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9144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spc="-400" kern="0" dirty="0">
                <a:solidFill>
                  <a:srgbClr val="E2E0F0">
                    <a:alpha val="12000"/>
                  </a:srgbClr>
                </a:solidFill>
              </a:rPr>
              <a:t>11</a:t>
            </a:r>
            <a:endParaRPr lang="en-US" sz="9600" dirty="0"/>
          </a:p>
        </p:txBody>
      </p:sp>
      <p:sp>
        <p:nvSpPr>
          <p:cNvPr id="6" name="Text 4"/>
          <p:cNvSpPr/>
          <p:nvPr/>
        </p:nvSpPr>
        <p:spPr>
          <a:xfrm>
            <a:off x="274320" y="8686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600" b="1" dirty="0">
                <a:solidFill>
                  <a:srgbClr val="FFFFFF"/>
                </a:solidFill>
              </a:rPr>
              <a:t>Number Intelligence &amp; HLR Lookup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783080"/>
            <a:ext cx="54864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6B6889"/>
                </a:solidFill>
              </a:rPr>
              <a:t>Real carrier data on any number — one click, zero guesswork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74320" y="2212848"/>
            <a:ext cx="5486400" cy="0"/>
          </a:xfrm>
          <a:prstGeom prst="line">
            <a:avLst/>
          </a:prstGeom>
          <a:noFill/>
          <a:ln w="19050">
            <a:solidFill>
              <a:srgbClr val="10B981">
                <a:alpha val="40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74320" y="243230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37744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Parallel HLR + MNP API calls return live network status, current carrier, line type (Mobile/Fixed/VoIP), MCC/MNC network code, and porting status — cached 24 hours to control cost.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66674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61188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STIR/SHAKEN attestation level, reputation score from FAS event history, CDR match count, and CDR-sourced CNAM are layered on top of the HLR result.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74320" y="4901184"/>
            <a:ext cx="91440" cy="914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4846320"/>
            <a:ext cx="539496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Provider is configurable from the Number Intelligence page — supports hlrlookup.com or Telnyx; falls back to Sippy CDR data when no provider is configured.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217920" y="274320"/>
            <a:ext cx="5669280" cy="3017520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492240" y="5029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6B6889"/>
                </a:solidFill>
              </a:rPr>
              <a:t>PERFORMANCE INDICATORS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96012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Fields Populated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8595360" y="1014984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19" name="Shape 17"/>
          <p:cNvSpPr/>
          <p:nvPr/>
        </p:nvSpPr>
        <p:spPr>
          <a:xfrm>
            <a:off x="8595360" y="1014984"/>
            <a:ext cx="460858" cy="14630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11247120" y="960120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0B981"/>
                </a:solidFill>
              </a:rPr>
              <a:t>9 data points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6492240" y="1618488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Lookup Speed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595360" y="1673352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3" name="Shape 21"/>
          <p:cNvSpPr/>
          <p:nvPr/>
        </p:nvSpPr>
        <p:spPr>
          <a:xfrm>
            <a:off x="8595360" y="1673352"/>
            <a:ext cx="2457907" cy="146304"/>
          </a:xfrm>
          <a:prstGeom prst="rect">
            <a:avLst/>
          </a:prstGeom>
          <a:solidFill>
            <a:srgbClr val="06B6D4"/>
          </a:solidFill>
          <a:ln/>
        </p:spPr>
      </p:sp>
      <p:sp>
        <p:nvSpPr>
          <p:cNvPr id="24" name="Text 22"/>
          <p:cNvSpPr/>
          <p:nvPr/>
        </p:nvSpPr>
        <p:spPr>
          <a:xfrm>
            <a:off x="11247120" y="1618488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06B6D4"/>
                </a:solidFill>
              </a:rPr>
              <a:t>96%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492240" y="2276856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889"/>
                </a:solidFill>
              </a:rPr>
              <a:t>Cache Hit Rate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8595360" y="2331720"/>
            <a:ext cx="2560320" cy="146304"/>
          </a:xfrm>
          <a:prstGeom prst="rect">
            <a:avLst/>
          </a:prstGeom>
          <a:solidFill>
            <a:srgbClr val="1E1B3A"/>
          </a:solidFill>
          <a:ln/>
        </p:spPr>
      </p:sp>
      <p:sp>
        <p:nvSpPr>
          <p:cNvPr id="27" name="Shape 25"/>
          <p:cNvSpPr/>
          <p:nvPr/>
        </p:nvSpPr>
        <p:spPr>
          <a:xfrm>
            <a:off x="8595360" y="2331720"/>
            <a:ext cx="2253082" cy="146304"/>
          </a:xfrm>
          <a:prstGeom prst="rect">
            <a:avLst/>
          </a:prstGeom>
          <a:solidFill>
            <a:srgbClr val="8B5CF6"/>
          </a:solidFill>
          <a:ln/>
        </p:spPr>
      </p:sp>
      <p:sp>
        <p:nvSpPr>
          <p:cNvPr id="28" name="Text 26"/>
          <p:cNvSpPr/>
          <p:nvPr/>
        </p:nvSpPr>
        <p:spPr>
          <a:xfrm>
            <a:off x="11247120" y="2276856"/>
            <a:ext cx="9144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8B5CF6"/>
                </a:solidFill>
              </a:rPr>
              <a:t>88%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6217920" y="3474720"/>
            <a:ext cx="5669280" cy="3063240"/>
          </a:xfrm>
          <a:prstGeom prst="rect">
            <a:avLst/>
          </a:prstGeom>
          <a:solidFill>
            <a:srgbClr val="10B981">
              <a:alpha val="6000"/>
            </a:srgbClr>
          </a:solidFill>
          <a:ln w="12700">
            <a:solidFill>
              <a:srgbClr val="10B981">
                <a:alpha val="30000"/>
              </a:srgbClr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92240" y="3703320"/>
            <a:ext cx="512064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200" kern="0" dirty="0">
                <a:solidFill>
                  <a:srgbClr val="10B981"/>
                </a:solidFill>
              </a:rPr>
              <a:t>DECISION-MAKING IMPACT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6492240" y="4069080"/>
            <a:ext cx="512064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5000"/>
              </a:lnSpc>
              <a:buNone/>
            </a:pPr>
            <a:r>
              <a:rPr lang="en-US" sz="1100" dirty="0">
                <a:solidFill>
                  <a:srgbClr val="C4C2D8"/>
                </a:solidFill>
              </a:rPr>
              <a:t>Fraud investigation, CLI screening, and regulatory compliance all require knowing whether a number is real, active, and where it originates. This removes the manual carrier portal lookup and puts verified number intelligence directly in the hands of NOC and compliance teams.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789920" y="649224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889"/>
                </a:solidFill>
              </a:rPr>
              <a:t>11 / 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40F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1A0A3D">
              <a:alpha val="50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029200" y="457200"/>
            <a:ext cx="21031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7C3AED"/>
                </a:solidFill>
              </a:rPr>
              <a:t>✦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1097280"/>
            <a:ext cx="103327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3200" b="1" dirty="0">
                <a:solidFill>
                  <a:srgbClr val="FFFFFF"/>
                </a:solidFill>
              </a:rPr>
              <a:t>Built for the Way Carriers Actually Operate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1371600" y="23774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554480" y="23774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⚡  Live data — never stale, never batched overnight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1371600" y="30632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554480" y="30632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🛡️  Read-only by default — safe for production 24/7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1371600" y="37490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554480" y="37490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📊  From raw CDRs to boardroom margin analytics in one platform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1371600" y="44348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554480" y="44348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🔒  Compliance, governance, and audit built in — not bolted on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1371600" y="5120640"/>
            <a:ext cx="9418320" cy="566928"/>
          </a:xfrm>
          <a:prstGeom prst="rect">
            <a:avLst/>
          </a:prstGeom>
          <a:solidFill>
            <a:srgbClr val="0F0D1F"/>
          </a:solidFill>
          <a:ln w="12700">
            <a:solidFill>
              <a:srgbClr val="1E1B3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554480" y="5120640"/>
            <a:ext cx="91440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E2E0F0"/>
                </a:solidFill>
              </a:rPr>
              <a:t>🌍  Multi-switch, multi-region, multi-team ready from day one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2743200" y="6035040"/>
            <a:ext cx="6675120" cy="0"/>
          </a:xfrm>
          <a:prstGeom prst="line">
            <a:avLst/>
          </a:prstGeom>
          <a:noFill/>
          <a:ln w="12700">
            <a:solidFill>
              <a:srgbClr val="1E1B3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6126480"/>
            <a:ext cx="10332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7C3AED"/>
                </a:solidFill>
              </a:rPr>
              <a:t>Bitsauto — Carrier Intelligence, Commercially Engineered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Bitsauto VoIP Intelligence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Bitsauto VoIP Intelligence Platform</dc:title>
  <dc:subject>Top 11 Commercial Features</dc:subject>
  <dc:creator>Bitsauto</dc:creator>
  <cp:lastModifiedBy>Bitsauto</cp:lastModifiedBy>
  <cp:revision>1</cp:revision>
  <dcterms:created xsi:type="dcterms:W3CDTF">2026-05-11T14:25:26Z</dcterms:created>
  <dcterms:modified xsi:type="dcterms:W3CDTF">2026-05-11T14:25:26Z</dcterms:modified>
</cp:coreProperties>
</file>