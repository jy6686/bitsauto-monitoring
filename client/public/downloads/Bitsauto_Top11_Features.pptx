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</p:sldIdLst>
  <p:notesMasterIdLst>
    <p:notesMasterId r:id="rId15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notesMaster" Target="notesMasters/notesMaster1.xml"/><Relationship Id="rId16" Type="http://schemas.openxmlformats.org/officeDocument/2006/relationships/presProps" Target="presProps.xml"/><Relationship Id="rId17" Type="http://schemas.openxmlformats.org/officeDocument/2006/relationships/viewProps" Target="viewProps.xml"/><Relationship Id="rId18" Type="http://schemas.openxmlformats.org/officeDocument/2006/relationships/theme" Target="theme/theme1.xml"/><Relationship Id="rId19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5040F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7315200" cy="6858000"/>
          </a:xfrm>
          <a:prstGeom prst="rect">
            <a:avLst/>
          </a:prstGeom>
          <a:solidFill>
            <a:srgbClr val="1A0A3D">
              <a:alpha val="70000"/>
            </a:srgbClr>
          </a:solidFill>
          <a:ln/>
        </p:spPr>
      </p:sp>
      <p:sp>
        <p:nvSpPr>
          <p:cNvPr id="4" name="Shape 2"/>
          <p:cNvSpPr/>
          <p:nvPr/>
        </p:nvSpPr>
        <p:spPr>
          <a:xfrm>
            <a:off x="0" y="0"/>
            <a:ext cx="54864" cy="6858000"/>
          </a:xfrm>
          <a:prstGeom prst="rect">
            <a:avLst/>
          </a:prstGeom>
          <a:solidFill>
            <a:srgbClr val="7C3AED"/>
          </a:solidFill>
          <a:ln/>
        </p:spPr>
      </p:sp>
      <p:sp>
        <p:nvSpPr>
          <p:cNvPr id="5" name="Shape 3"/>
          <p:cNvSpPr/>
          <p:nvPr/>
        </p:nvSpPr>
        <p:spPr>
          <a:xfrm>
            <a:off x="914400" y="1005840"/>
            <a:ext cx="3474720" cy="320040"/>
          </a:xfrm>
          <a:prstGeom prst="rect">
            <a:avLst/>
          </a:prstGeom>
          <a:solidFill>
            <a:srgbClr val="1E1040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914400" y="1005840"/>
            <a:ext cx="34747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b="1" spc="300" kern="0" dirty="0">
                <a:solidFill>
                  <a:srgbClr val="A78BFA"/>
                </a:solidFill>
              </a:rPr>
              <a:t>COMMERCIAL FEATURE OVERVIEW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457200" y="1645920"/>
            <a:ext cx="7315200" cy="1463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4400" b="1" spc="-100" kern="0" dirty="0">
                <a:solidFill>
                  <a:srgbClr val="FFFFFF"/>
                </a:solidFill>
              </a:rPr>
              <a:t>Bitsauto VoIP Intelligence Platform</a:t>
            </a:r>
            <a:endParaRPr lang="en-US" sz="4400" dirty="0"/>
          </a:p>
        </p:txBody>
      </p:sp>
      <p:sp>
        <p:nvSpPr>
          <p:cNvPr id="8" name="Text 6"/>
          <p:cNvSpPr/>
          <p:nvPr/>
        </p:nvSpPr>
        <p:spPr>
          <a:xfrm>
            <a:off x="457200" y="3154680"/>
            <a:ext cx="73152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A78BFA"/>
                </a:solidFill>
              </a:rPr>
              <a:t>Top 11 High-Impact Commercial Features</a:t>
            </a:r>
            <a:endParaRPr lang="en-US" sz="2000" dirty="0"/>
          </a:p>
        </p:txBody>
      </p:sp>
      <p:sp>
        <p:nvSpPr>
          <p:cNvPr id="9" name="Text 7"/>
          <p:cNvSpPr/>
          <p:nvPr/>
        </p:nvSpPr>
        <p:spPr>
          <a:xfrm>
            <a:off x="457200" y="3749040"/>
            <a:ext cx="6858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6B6889"/>
                </a:solidFill>
              </a:rPr>
              <a:t>Built for carrier-grade operations, designed for commercial scale.</a:t>
            </a:r>
            <a:endParaRPr lang="en-US" sz="1300" dirty="0"/>
          </a:p>
        </p:txBody>
      </p:sp>
      <p:sp>
        <p:nvSpPr>
          <p:cNvPr id="10" name="Shape 8"/>
          <p:cNvSpPr/>
          <p:nvPr/>
        </p:nvSpPr>
        <p:spPr>
          <a:xfrm>
            <a:off x="457200" y="4389120"/>
            <a:ext cx="1737360" cy="347472"/>
          </a:xfrm>
          <a:prstGeom prst="rect">
            <a:avLst/>
          </a:prstGeom>
          <a:solidFill>
            <a:srgbClr val="7C3AED">
              <a:alpha val="15000"/>
            </a:srgbClr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457200" y="4389120"/>
            <a:ext cx="173736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</a:rPr>
              <a:t>Carrier-Grade</a:t>
            </a:r>
            <a:endParaRPr lang="en-US" sz="1000" dirty="0"/>
          </a:p>
        </p:txBody>
      </p:sp>
      <p:sp>
        <p:nvSpPr>
          <p:cNvPr id="12" name="Shape 10"/>
          <p:cNvSpPr/>
          <p:nvPr/>
        </p:nvSpPr>
        <p:spPr>
          <a:xfrm>
            <a:off x="2331720" y="4389120"/>
            <a:ext cx="1737360" cy="347472"/>
          </a:xfrm>
          <a:prstGeom prst="rect">
            <a:avLst/>
          </a:prstGeom>
          <a:solidFill>
            <a:srgbClr val="06B6D4">
              <a:alpha val="15000"/>
            </a:srgbClr>
          </a:solidFill>
          <a:ln w="12700">
            <a:solidFill>
              <a:srgbClr val="06B6D4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2331720" y="4389120"/>
            <a:ext cx="173736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</a:rPr>
              <a:t>Real-Time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4206240" y="4389120"/>
            <a:ext cx="1737360" cy="347472"/>
          </a:xfrm>
          <a:prstGeom prst="rect">
            <a:avLst/>
          </a:prstGeom>
          <a:solidFill>
            <a:srgbClr val="10B981">
              <a:alpha val="15000"/>
            </a:srgbClr>
          </a:solidFill>
          <a:ln w="12700">
            <a:solidFill>
              <a:srgbClr val="10B981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4206240" y="4389120"/>
            <a:ext cx="173736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</a:rPr>
              <a:t>Production-Safe</a:t>
            </a:r>
            <a:endParaRPr lang="en-US" sz="1000" dirty="0"/>
          </a:p>
        </p:txBody>
      </p:sp>
      <p:sp>
        <p:nvSpPr>
          <p:cNvPr id="16" name="Shape 14"/>
          <p:cNvSpPr/>
          <p:nvPr/>
        </p:nvSpPr>
        <p:spPr>
          <a:xfrm>
            <a:off x="6080760" y="4389120"/>
            <a:ext cx="1737360" cy="347472"/>
          </a:xfrm>
          <a:prstGeom prst="rect">
            <a:avLst/>
          </a:prstGeom>
          <a:solidFill>
            <a:srgbClr val="F59E0B">
              <a:alpha val="15000"/>
            </a:srgbClr>
          </a:solidFill>
          <a:ln w="12700">
            <a:solidFill>
              <a:srgbClr val="F59E0B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6080760" y="4389120"/>
            <a:ext cx="173736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</a:rPr>
              <a:t>Enterprise-Ready</a:t>
            </a:r>
            <a:endParaRPr lang="en-US" sz="1000" dirty="0"/>
          </a:p>
        </p:txBody>
      </p:sp>
      <p:sp>
        <p:nvSpPr>
          <p:cNvPr id="18" name="Text 16"/>
          <p:cNvSpPr/>
          <p:nvPr/>
        </p:nvSpPr>
        <p:spPr>
          <a:xfrm>
            <a:off x="457200" y="6309360"/>
            <a:ext cx="112471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6B6889"/>
                </a:solidFill>
              </a:rPr>
              <a:t>Bitsauto · Carrier Intelligence, Commercially Engineered</a:t>
            </a:r>
            <a:endParaRPr lang="en-US" sz="9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5040F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54864" cy="6858000"/>
          </a:xfrm>
          <a:prstGeom prst="rect">
            <a:avLst/>
          </a:prstGeom>
          <a:solidFill>
            <a:srgbClr val="F59E0B"/>
          </a:solidFill>
          <a:ln/>
        </p:spPr>
      </p:sp>
      <p:sp>
        <p:nvSpPr>
          <p:cNvPr id="4" name="Shape 2"/>
          <p:cNvSpPr/>
          <p:nvPr/>
        </p:nvSpPr>
        <p:spPr>
          <a:xfrm>
            <a:off x="54864" y="0"/>
            <a:ext cx="5888736" cy="6858000"/>
          </a:xfrm>
          <a:prstGeom prst="rect">
            <a:avLst/>
          </a:prstGeom>
          <a:solidFill>
            <a:srgbClr val="0F0D1F"/>
          </a:solidFill>
          <a:ln/>
        </p:spPr>
      </p:sp>
      <p:sp>
        <p:nvSpPr>
          <p:cNvPr id="5" name="Text 3"/>
          <p:cNvSpPr/>
          <p:nvPr/>
        </p:nvSpPr>
        <p:spPr>
          <a:xfrm>
            <a:off x="274320" y="91440"/>
            <a:ext cx="2286000" cy="1280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600" b="1" spc="-400" kern="0" dirty="0">
                <a:solidFill>
                  <a:srgbClr val="E2E0F0">
                    <a:alpha val="12000"/>
                  </a:srgbClr>
                </a:solidFill>
              </a:rPr>
              <a:t>01</a:t>
            </a:r>
            <a:endParaRPr lang="en-US" sz="9600" dirty="0"/>
          </a:p>
        </p:txBody>
      </p:sp>
      <p:sp>
        <p:nvSpPr>
          <p:cNvPr id="6" name="Text 4"/>
          <p:cNvSpPr/>
          <p:nvPr/>
        </p:nvSpPr>
        <p:spPr>
          <a:xfrm>
            <a:off x="274320" y="868680"/>
            <a:ext cx="54864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2600" b="1" dirty="0">
                <a:solidFill>
                  <a:srgbClr val="FFFFFF"/>
                </a:solidFill>
              </a:rPr>
              <a:t>Approval Engine</a:t>
            </a:r>
            <a:endParaRPr lang="en-US" sz="2600" dirty="0"/>
          </a:p>
        </p:txBody>
      </p:sp>
      <p:sp>
        <p:nvSpPr>
          <p:cNvPr id="7" name="Text 5"/>
          <p:cNvSpPr/>
          <p:nvPr/>
        </p:nvSpPr>
        <p:spPr>
          <a:xfrm>
            <a:off x="274320" y="1783080"/>
            <a:ext cx="548640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6B6889"/>
                </a:solidFill>
              </a:rPr>
              <a:t>Change governance for live carrier networks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274320" y="2212848"/>
            <a:ext cx="5486400" cy="0"/>
          </a:xfrm>
          <a:prstGeom prst="line">
            <a:avLst/>
          </a:prstGeom>
          <a:noFill/>
          <a:ln w="19050">
            <a:solidFill>
              <a:srgbClr val="F59E0B">
                <a:alpha val="40000"/>
              </a:srgbClr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274320" y="2432304"/>
            <a:ext cx="91440" cy="91440"/>
          </a:xfrm>
          <a:prstGeom prst="ellipse">
            <a:avLst/>
          </a:prstGeom>
          <a:solidFill>
            <a:srgbClr val="F59E0B"/>
          </a:solidFill>
          <a:ln/>
        </p:spPr>
      </p:sp>
      <p:sp>
        <p:nvSpPr>
          <p:cNvPr id="10" name="Text 8"/>
          <p:cNvSpPr/>
          <p:nvPr/>
        </p:nvSpPr>
        <p:spPr>
          <a:xfrm>
            <a:off x="457200" y="2377440"/>
            <a:ext cx="539496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Every sensitive action — routing changes, rate card edits, IP management, DID assignments — is queued for admin review before being applied to the switch.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274320" y="3666744"/>
            <a:ext cx="91440" cy="91440"/>
          </a:xfrm>
          <a:prstGeom prst="ellipse">
            <a:avLst/>
          </a:prstGeom>
          <a:solidFill>
            <a:srgbClr val="F59E0B"/>
          </a:solidFill>
          <a:ln/>
        </p:spPr>
      </p:sp>
      <p:sp>
        <p:nvSpPr>
          <p:cNvPr id="12" name="Text 10"/>
          <p:cNvSpPr/>
          <p:nvPr/>
        </p:nvSpPr>
        <p:spPr>
          <a:xfrm>
            <a:off x="457200" y="3611880"/>
            <a:ext cx="539496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Full before/after state is captured with reviewer identity, timestamp, and rollback capability on every approved or rejected request.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274320" y="4901184"/>
            <a:ext cx="91440" cy="91440"/>
          </a:xfrm>
          <a:prstGeom prst="ellipse">
            <a:avLst/>
          </a:prstGeom>
          <a:solidFill>
            <a:srgbClr val="F59E0B"/>
          </a:solidFill>
          <a:ln/>
        </p:spPr>
      </p:sp>
      <p:sp>
        <p:nvSpPr>
          <p:cNvPr id="14" name="Text 12"/>
          <p:cNvSpPr/>
          <p:nvPr/>
        </p:nvSpPr>
        <p:spPr>
          <a:xfrm>
            <a:off x="457200" y="4846320"/>
            <a:ext cx="539496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Configurable per action type: create, edit, and delete can each be independently gated, giving precise control without blocking routine operations.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6217920" y="274320"/>
            <a:ext cx="5669280" cy="3017520"/>
          </a:xfrm>
          <a:prstGeom prst="rect">
            <a:avLst/>
          </a:prstGeom>
          <a:solidFill>
            <a:srgbClr val="0F0D1F"/>
          </a:solidFill>
          <a:ln w="12700">
            <a:solidFill>
              <a:srgbClr val="1E1B3A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6492240" y="502920"/>
            <a:ext cx="5120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6B6889"/>
                </a:solidFill>
              </a:rPr>
              <a:t>PERFORMANCE INDICATORS</a:t>
            </a:r>
            <a:endParaRPr lang="en-US" sz="800" dirty="0"/>
          </a:p>
        </p:txBody>
      </p:sp>
      <p:sp>
        <p:nvSpPr>
          <p:cNvPr id="17" name="Text 15"/>
          <p:cNvSpPr/>
          <p:nvPr/>
        </p:nvSpPr>
        <p:spPr>
          <a:xfrm>
            <a:off x="6492240" y="960120"/>
            <a:ext cx="2011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6889"/>
                </a:solidFill>
              </a:rPr>
              <a:t>Risk Reduction</a:t>
            </a:r>
            <a:endParaRPr lang="en-US" sz="1000" dirty="0"/>
          </a:p>
        </p:txBody>
      </p:sp>
      <p:sp>
        <p:nvSpPr>
          <p:cNvPr id="18" name="Shape 16"/>
          <p:cNvSpPr/>
          <p:nvPr/>
        </p:nvSpPr>
        <p:spPr>
          <a:xfrm>
            <a:off x="8595360" y="1014984"/>
            <a:ext cx="2560320" cy="146304"/>
          </a:xfrm>
          <a:prstGeom prst="rect">
            <a:avLst/>
          </a:prstGeom>
          <a:solidFill>
            <a:srgbClr val="1E1B3A"/>
          </a:solidFill>
          <a:ln/>
        </p:spPr>
      </p:sp>
      <p:sp>
        <p:nvSpPr>
          <p:cNvPr id="19" name="Shape 17"/>
          <p:cNvSpPr/>
          <p:nvPr/>
        </p:nvSpPr>
        <p:spPr>
          <a:xfrm>
            <a:off x="8595360" y="1014984"/>
            <a:ext cx="2406701" cy="146304"/>
          </a:xfrm>
          <a:prstGeom prst="rect">
            <a:avLst/>
          </a:prstGeom>
          <a:solidFill>
            <a:srgbClr val="F59E0B"/>
          </a:solidFill>
          <a:ln/>
        </p:spPr>
      </p:sp>
      <p:sp>
        <p:nvSpPr>
          <p:cNvPr id="20" name="Text 18"/>
          <p:cNvSpPr/>
          <p:nvPr/>
        </p:nvSpPr>
        <p:spPr>
          <a:xfrm>
            <a:off x="11247120" y="960120"/>
            <a:ext cx="914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F59E0B"/>
                </a:solidFill>
              </a:rPr>
              <a:t>94%</a:t>
            </a:r>
            <a:endParaRPr lang="en-US" sz="1100" dirty="0"/>
          </a:p>
        </p:txBody>
      </p:sp>
      <p:sp>
        <p:nvSpPr>
          <p:cNvPr id="21" name="Text 19"/>
          <p:cNvSpPr/>
          <p:nvPr/>
        </p:nvSpPr>
        <p:spPr>
          <a:xfrm>
            <a:off x="6492240" y="1618488"/>
            <a:ext cx="2011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6889"/>
                </a:solidFill>
              </a:rPr>
              <a:t>Audit Coverage</a:t>
            </a:r>
            <a:endParaRPr lang="en-US" sz="1000" dirty="0"/>
          </a:p>
        </p:txBody>
      </p:sp>
      <p:sp>
        <p:nvSpPr>
          <p:cNvPr id="22" name="Shape 20"/>
          <p:cNvSpPr/>
          <p:nvPr/>
        </p:nvSpPr>
        <p:spPr>
          <a:xfrm>
            <a:off x="8595360" y="1673352"/>
            <a:ext cx="2560320" cy="146304"/>
          </a:xfrm>
          <a:prstGeom prst="rect">
            <a:avLst/>
          </a:prstGeom>
          <a:solidFill>
            <a:srgbClr val="1E1B3A"/>
          </a:solidFill>
          <a:ln/>
        </p:spPr>
      </p:sp>
      <p:sp>
        <p:nvSpPr>
          <p:cNvPr id="23" name="Shape 21"/>
          <p:cNvSpPr/>
          <p:nvPr/>
        </p:nvSpPr>
        <p:spPr>
          <a:xfrm>
            <a:off x="8595360" y="1673352"/>
            <a:ext cx="2560320" cy="146304"/>
          </a:xfrm>
          <a:prstGeom prst="rect">
            <a:avLst/>
          </a:prstGeom>
          <a:solidFill>
            <a:srgbClr val="10B981"/>
          </a:solidFill>
          <a:ln/>
        </p:spPr>
      </p:sp>
      <p:sp>
        <p:nvSpPr>
          <p:cNvPr id="24" name="Text 22"/>
          <p:cNvSpPr/>
          <p:nvPr/>
        </p:nvSpPr>
        <p:spPr>
          <a:xfrm>
            <a:off x="11247120" y="1618488"/>
            <a:ext cx="914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10B981"/>
                </a:solidFill>
              </a:rPr>
              <a:t>100%</a:t>
            </a:r>
            <a:endParaRPr lang="en-US" sz="1100" dirty="0"/>
          </a:p>
        </p:txBody>
      </p:sp>
      <p:sp>
        <p:nvSpPr>
          <p:cNvPr id="25" name="Text 23"/>
          <p:cNvSpPr/>
          <p:nvPr/>
        </p:nvSpPr>
        <p:spPr>
          <a:xfrm>
            <a:off x="6492240" y="2276856"/>
            <a:ext cx="2011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6889"/>
                </a:solidFill>
              </a:rPr>
              <a:t>Rollback Speed</a:t>
            </a:r>
            <a:endParaRPr lang="en-US" sz="1000" dirty="0"/>
          </a:p>
        </p:txBody>
      </p:sp>
      <p:sp>
        <p:nvSpPr>
          <p:cNvPr id="26" name="Shape 24"/>
          <p:cNvSpPr/>
          <p:nvPr/>
        </p:nvSpPr>
        <p:spPr>
          <a:xfrm>
            <a:off x="8595360" y="2331720"/>
            <a:ext cx="2560320" cy="146304"/>
          </a:xfrm>
          <a:prstGeom prst="rect">
            <a:avLst/>
          </a:prstGeom>
          <a:solidFill>
            <a:srgbClr val="1E1B3A"/>
          </a:solidFill>
          <a:ln/>
        </p:spPr>
      </p:sp>
      <p:sp>
        <p:nvSpPr>
          <p:cNvPr id="27" name="Shape 25"/>
          <p:cNvSpPr/>
          <p:nvPr/>
        </p:nvSpPr>
        <p:spPr>
          <a:xfrm>
            <a:off x="8595360" y="2331720"/>
            <a:ext cx="2253082" cy="146304"/>
          </a:xfrm>
          <a:prstGeom prst="rect">
            <a:avLst/>
          </a:prstGeom>
          <a:solidFill>
            <a:srgbClr val="8B5CF6"/>
          </a:solidFill>
          <a:ln/>
        </p:spPr>
      </p:sp>
      <p:sp>
        <p:nvSpPr>
          <p:cNvPr id="28" name="Text 26"/>
          <p:cNvSpPr/>
          <p:nvPr/>
        </p:nvSpPr>
        <p:spPr>
          <a:xfrm>
            <a:off x="11247120" y="2276856"/>
            <a:ext cx="914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8B5CF6"/>
                </a:solidFill>
              </a:rPr>
              <a:t>88%</a:t>
            </a:r>
            <a:endParaRPr lang="en-US" sz="1100" dirty="0"/>
          </a:p>
        </p:txBody>
      </p:sp>
      <p:sp>
        <p:nvSpPr>
          <p:cNvPr id="29" name="Shape 27"/>
          <p:cNvSpPr/>
          <p:nvPr/>
        </p:nvSpPr>
        <p:spPr>
          <a:xfrm>
            <a:off x="6217920" y="3474720"/>
            <a:ext cx="5669280" cy="3063240"/>
          </a:xfrm>
          <a:prstGeom prst="rect">
            <a:avLst/>
          </a:prstGeom>
          <a:solidFill>
            <a:srgbClr val="F59E0B">
              <a:alpha val="6000"/>
            </a:srgbClr>
          </a:solidFill>
          <a:ln w="12700">
            <a:solidFill>
              <a:srgbClr val="F59E0B">
                <a:alpha val="30000"/>
              </a:srgbClr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6492240" y="3703320"/>
            <a:ext cx="512064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F59E0B"/>
                </a:solidFill>
              </a:rPr>
              <a:t>DECISION-MAKING IMPACT</a:t>
            </a:r>
            <a:endParaRPr lang="en-US" sz="800" dirty="0"/>
          </a:p>
        </p:txBody>
      </p:sp>
      <p:sp>
        <p:nvSpPr>
          <p:cNvPr id="31" name="Text 29"/>
          <p:cNvSpPr/>
          <p:nvPr/>
        </p:nvSpPr>
        <p:spPr>
          <a:xfrm>
            <a:off x="6492240" y="4069080"/>
            <a:ext cx="5120640" cy="2286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6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Enterprise procurement teams mandate change governance. This feature alone moves Bitsauto from "monitoring tool" to "operational platform" in a vendor evaluation.</a:t>
            </a:r>
            <a:endParaRPr lang="en-US" sz="1100" dirty="0"/>
          </a:p>
        </p:txBody>
      </p:sp>
      <p:sp>
        <p:nvSpPr>
          <p:cNvPr id="32" name="Text 30"/>
          <p:cNvSpPr/>
          <p:nvPr/>
        </p:nvSpPr>
        <p:spPr>
          <a:xfrm>
            <a:off x="10789920" y="6492240"/>
            <a:ext cx="10972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889"/>
                </a:solidFill>
              </a:rPr>
              <a:t>01 / 11</a:t>
            </a:r>
            <a:endParaRPr lang="en-US" sz="9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5040F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54864" cy="6858000"/>
          </a:xfrm>
          <a:prstGeom prst="rect">
            <a:avLst/>
          </a:prstGeom>
          <a:solidFill>
            <a:srgbClr val="EF4444"/>
          </a:solidFill>
          <a:ln/>
        </p:spPr>
      </p:sp>
      <p:sp>
        <p:nvSpPr>
          <p:cNvPr id="4" name="Shape 2"/>
          <p:cNvSpPr/>
          <p:nvPr/>
        </p:nvSpPr>
        <p:spPr>
          <a:xfrm>
            <a:off x="54864" y="0"/>
            <a:ext cx="5888736" cy="6858000"/>
          </a:xfrm>
          <a:prstGeom prst="rect">
            <a:avLst/>
          </a:prstGeom>
          <a:solidFill>
            <a:srgbClr val="0F0D1F"/>
          </a:solidFill>
          <a:ln/>
        </p:spPr>
      </p:sp>
      <p:sp>
        <p:nvSpPr>
          <p:cNvPr id="5" name="Text 3"/>
          <p:cNvSpPr/>
          <p:nvPr/>
        </p:nvSpPr>
        <p:spPr>
          <a:xfrm>
            <a:off x="274320" y="91440"/>
            <a:ext cx="2286000" cy="1280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600" b="1" spc="-400" kern="0" dirty="0">
                <a:solidFill>
                  <a:srgbClr val="E2E0F0">
                    <a:alpha val="12000"/>
                  </a:srgbClr>
                </a:solidFill>
              </a:rPr>
              <a:t>02</a:t>
            </a:r>
            <a:endParaRPr lang="en-US" sz="9600" dirty="0"/>
          </a:p>
        </p:txBody>
      </p:sp>
      <p:sp>
        <p:nvSpPr>
          <p:cNvPr id="6" name="Text 4"/>
          <p:cNvSpPr/>
          <p:nvPr/>
        </p:nvSpPr>
        <p:spPr>
          <a:xfrm>
            <a:off x="274320" y="868680"/>
            <a:ext cx="54864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2600" b="1" dirty="0">
                <a:solidFill>
                  <a:srgbClr val="FFFFFF"/>
                </a:solidFill>
              </a:rPr>
              <a:t>FAS / IRSF Fraud Detection</a:t>
            </a:r>
            <a:endParaRPr lang="en-US" sz="2600" dirty="0"/>
          </a:p>
        </p:txBody>
      </p:sp>
      <p:sp>
        <p:nvSpPr>
          <p:cNvPr id="7" name="Text 5"/>
          <p:cNvSpPr/>
          <p:nvPr/>
        </p:nvSpPr>
        <p:spPr>
          <a:xfrm>
            <a:off x="274320" y="1783080"/>
            <a:ext cx="548640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6B6889"/>
                </a:solidFill>
              </a:rPr>
              <a:t>Real-time revenue protection with auto-blacklisting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274320" y="2212848"/>
            <a:ext cx="5486400" cy="0"/>
          </a:xfrm>
          <a:prstGeom prst="line">
            <a:avLst/>
          </a:prstGeom>
          <a:noFill/>
          <a:ln w="19050">
            <a:solidFill>
              <a:srgbClr val="EF4444">
                <a:alpha val="40000"/>
              </a:srgbClr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274320" y="2432304"/>
            <a:ext cx="91440" cy="91440"/>
          </a:xfrm>
          <a:prstGeom prst="ellipse">
            <a:avLst/>
          </a:prstGeom>
          <a:solidFill>
            <a:srgbClr val="EF4444"/>
          </a:solidFill>
          <a:ln/>
        </p:spPr>
      </p:sp>
      <p:sp>
        <p:nvSpPr>
          <p:cNvPr id="10" name="Text 8"/>
          <p:cNvSpPr/>
          <p:nvPr/>
        </p:nvSpPr>
        <p:spPr>
          <a:xfrm>
            <a:off x="457200" y="2377440"/>
            <a:ext cx="539496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Continuously analyses live CDR data to identify False Answer Supervision — calls billed as answered but with no real voice path established.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274320" y="3666744"/>
            <a:ext cx="91440" cy="91440"/>
          </a:xfrm>
          <a:prstGeom prst="ellipse">
            <a:avLst/>
          </a:prstGeom>
          <a:solidFill>
            <a:srgbClr val="EF4444"/>
          </a:solidFill>
          <a:ln/>
        </p:spPr>
      </p:sp>
      <p:sp>
        <p:nvSpPr>
          <p:cNvPr id="12" name="Text 10"/>
          <p:cNvSpPr/>
          <p:nvPr/>
        </p:nvSpPr>
        <p:spPr>
          <a:xfrm>
            <a:off x="457200" y="3611880"/>
            <a:ext cx="539496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IRSF pattern detection flags unusual traffic spikes to high-cost international destinations, triggering automatic CLI and IP blacklisting within seconds.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274320" y="4901184"/>
            <a:ext cx="91440" cy="91440"/>
          </a:xfrm>
          <a:prstGeom prst="ellipse">
            <a:avLst/>
          </a:prstGeom>
          <a:solidFill>
            <a:srgbClr val="EF4444"/>
          </a:solidFill>
          <a:ln/>
        </p:spPr>
      </p:sp>
      <p:sp>
        <p:nvSpPr>
          <p:cNvPr id="14" name="Text 12"/>
          <p:cNvSpPr/>
          <p:nvPr/>
        </p:nvSpPr>
        <p:spPr>
          <a:xfrm>
            <a:off x="457200" y="4846320"/>
            <a:ext cx="539496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Configurable sensitivity thresholds and whitelist rules prevent false positives while maintaining protection against genuine fraud vectors.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6217920" y="274320"/>
            <a:ext cx="5669280" cy="3017520"/>
          </a:xfrm>
          <a:prstGeom prst="rect">
            <a:avLst/>
          </a:prstGeom>
          <a:solidFill>
            <a:srgbClr val="0F0D1F"/>
          </a:solidFill>
          <a:ln w="12700">
            <a:solidFill>
              <a:srgbClr val="1E1B3A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6492240" y="502920"/>
            <a:ext cx="5120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6B6889"/>
                </a:solidFill>
              </a:rPr>
              <a:t>PERFORMANCE INDICATORS</a:t>
            </a:r>
            <a:endParaRPr lang="en-US" sz="800" dirty="0"/>
          </a:p>
        </p:txBody>
      </p:sp>
      <p:sp>
        <p:nvSpPr>
          <p:cNvPr id="17" name="Text 15"/>
          <p:cNvSpPr/>
          <p:nvPr/>
        </p:nvSpPr>
        <p:spPr>
          <a:xfrm>
            <a:off x="6492240" y="960120"/>
            <a:ext cx="2011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6889"/>
                </a:solidFill>
              </a:rPr>
              <a:t>Fraud Detected</a:t>
            </a:r>
            <a:endParaRPr lang="en-US" sz="1000" dirty="0"/>
          </a:p>
        </p:txBody>
      </p:sp>
      <p:sp>
        <p:nvSpPr>
          <p:cNvPr id="18" name="Shape 16"/>
          <p:cNvSpPr/>
          <p:nvPr/>
        </p:nvSpPr>
        <p:spPr>
          <a:xfrm>
            <a:off x="8595360" y="1014984"/>
            <a:ext cx="2560320" cy="146304"/>
          </a:xfrm>
          <a:prstGeom prst="rect">
            <a:avLst/>
          </a:prstGeom>
          <a:solidFill>
            <a:srgbClr val="1E1B3A"/>
          </a:solidFill>
          <a:ln/>
        </p:spPr>
      </p:sp>
      <p:sp>
        <p:nvSpPr>
          <p:cNvPr id="19" name="Shape 17"/>
          <p:cNvSpPr/>
          <p:nvPr/>
        </p:nvSpPr>
        <p:spPr>
          <a:xfrm>
            <a:off x="8595360" y="1014984"/>
            <a:ext cx="2483510" cy="146304"/>
          </a:xfrm>
          <a:prstGeom prst="rect">
            <a:avLst/>
          </a:prstGeom>
          <a:solidFill>
            <a:srgbClr val="EF4444"/>
          </a:solidFill>
          <a:ln/>
        </p:spPr>
      </p:sp>
      <p:sp>
        <p:nvSpPr>
          <p:cNvPr id="20" name="Text 18"/>
          <p:cNvSpPr/>
          <p:nvPr/>
        </p:nvSpPr>
        <p:spPr>
          <a:xfrm>
            <a:off x="11247120" y="960120"/>
            <a:ext cx="914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EF4444"/>
                </a:solidFill>
              </a:rPr>
              <a:t>97%</a:t>
            </a:r>
            <a:endParaRPr lang="en-US" sz="1100" dirty="0"/>
          </a:p>
        </p:txBody>
      </p:sp>
      <p:sp>
        <p:nvSpPr>
          <p:cNvPr id="21" name="Text 19"/>
          <p:cNvSpPr/>
          <p:nvPr/>
        </p:nvSpPr>
        <p:spPr>
          <a:xfrm>
            <a:off x="6492240" y="1618488"/>
            <a:ext cx="2011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6889"/>
                </a:solidFill>
              </a:rPr>
              <a:t>Auto-blocked</a:t>
            </a:r>
            <a:endParaRPr lang="en-US" sz="1000" dirty="0"/>
          </a:p>
        </p:txBody>
      </p:sp>
      <p:sp>
        <p:nvSpPr>
          <p:cNvPr id="22" name="Shape 20"/>
          <p:cNvSpPr/>
          <p:nvPr/>
        </p:nvSpPr>
        <p:spPr>
          <a:xfrm>
            <a:off x="8595360" y="1673352"/>
            <a:ext cx="2560320" cy="146304"/>
          </a:xfrm>
          <a:prstGeom prst="rect">
            <a:avLst/>
          </a:prstGeom>
          <a:solidFill>
            <a:srgbClr val="1E1B3A"/>
          </a:solidFill>
          <a:ln/>
        </p:spPr>
      </p:sp>
      <p:sp>
        <p:nvSpPr>
          <p:cNvPr id="23" name="Shape 21"/>
          <p:cNvSpPr/>
          <p:nvPr/>
        </p:nvSpPr>
        <p:spPr>
          <a:xfrm>
            <a:off x="8595360" y="1673352"/>
            <a:ext cx="2329891" cy="146304"/>
          </a:xfrm>
          <a:prstGeom prst="rect">
            <a:avLst/>
          </a:prstGeom>
          <a:solidFill>
            <a:srgbClr val="F97316"/>
          </a:solidFill>
          <a:ln/>
        </p:spPr>
      </p:sp>
      <p:sp>
        <p:nvSpPr>
          <p:cNvPr id="24" name="Text 22"/>
          <p:cNvSpPr/>
          <p:nvPr/>
        </p:nvSpPr>
        <p:spPr>
          <a:xfrm>
            <a:off x="11247120" y="1618488"/>
            <a:ext cx="914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F97316"/>
                </a:solidFill>
              </a:rPr>
              <a:t>91%</a:t>
            </a:r>
            <a:endParaRPr lang="en-US" sz="1100" dirty="0"/>
          </a:p>
        </p:txBody>
      </p:sp>
      <p:sp>
        <p:nvSpPr>
          <p:cNvPr id="25" name="Text 23"/>
          <p:cNvSpPr/>
          <p:nvPr/>
        </p:nvSpPr>
        <p:spPr>
          <a:xfrm>
            <a:off x="6492240" y="2276856"/>
            <a:ext cx="2011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6889"/>
                </a:solidFill>
              </a:rPr>
              <a:t>Revenue Saved</a:t>
            </a:r>
            <a:endParaRPr lang="en-US" sz="1000" dirty="0"/>
          </a:p>
        </p:txBody>
      </p:sp>
      <p:sp>
        <p:nvSpPr>
          <p:cNvPr id="26" name="Shape 24"/>
          <p:cNvSpPr/>
          <p:nvPr/>
        </p:nvSpPr>
        <p:spPr>
          <a:xfrm>
            <a:off x="8595360" y="2331720"/>
            <a:ext cx="2560320" cy="146304"/>
          </a:xfrm>
          <a:prstGeom prst="rect">
            <a:avLst/>
          </a:prstGeom>
          <a:solidFill>
            <a:srgbClr val="1E1B3A"/>
          </a:solidFill>
          <a:ln/>
        </p:spPr>
      </p:sp>
      <p:sp>
        <p:nvSpPr>
          <p:cNvPr id="27" name="Shape 25"/>
          <p:cNvSpPr/>
          <p:nvPr/>
        </p:nvSpPr>
        <p:spPr>
          <a:xfrm>
            <a:off x="8595360" y="2331720"/>
            <a:ext cx="2176272" cy="146304"/>
          </a:xfrm>
          <a:prstGeom prst="rect">
            <a:avLst/>
          </a:prstGeom>
          <a:solidFill>
            <a:srgbClr val="10B981"/>
          </a:solidFill>
          <a:ln/>
        </p:spPr>
      </p:sp>
      <p:sp>
        <p:nvSpPr>
          <p:cNvPr id="28" name="Text 26"/>
          <p:cNvSpPr/>
          <p:nvPr/>
        </p:nvSpPr>
        <p:spPr>
          <a:xfrm>
            <a:off x="11247120" y="2276856"/>
            <a:ext cx="914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10B981"/>
                </a:solidFill>
              </a:rPr>
              <a:t>85%</a:t>
            </a:r>
            <a:endParaRPr lang="en-US" sz="1100" dirty="0"/>
          </a:p>
        </p:txBody>
      </p:sp>
      <p:sp>
        <p:nvSpPr>
          <p:cNvPr id="29" name="Shape 27"/>
          <p:cNvSpPr/>
          <p:nvPr/>
        </p:nvSpPr>
        <p:spPr>
          <a:xfrm>
            <a:off x="6217920" y="3474720"/>
            <a:ext cx="5669280" cy="3063240"/>
          </a:xfrm>
          <a:prstGeom prst="rect">
            <a:avLst/>
          </a:prstGeom>
          <a:solidFill>
            <a:srgbClr val="EF4444">
              <a:alpha val="6000"/>
            </a:srgbClr>
          </a:solidFill>
          <a:ln w="12700">
            <a:solidFill>
              <a:srgbClr val="EF4444">
                <a:alpha val="30000"/>
              </a:srgbClr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6492240" y="3703320"/>
            <a:ext cx="512064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EF4444"/>
                </a:solidFill>
              </a:rPr>
              <a:t>DECISION-MAKING IMPACT</a:t>
            </a:r>
            <a:endParaRPr lang="en-US" sz="800" dirty="0"/>
          </a:p>
        </p:txBody>
      </p:sp>
      <p:sp>
        <p:nvSpPr>
          <p:cNvPr id="31" name="Text 29"/>
          <p:cNvSpPr/>
          <p:nvPr/>
        </p:nvSpPr>
        <p:spPr>
          <a:xfrm>
            <a:off x="6492240" y="4069080"/>
            <a:ext cx="5120640" cy="2286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6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In wholesale VoIP, FAS and IRSF fraud causes direct margin loss measurable in hundreds of thousands per month. The ROI on this feature is immediate and demonstrable to a CFO.</a:t>
            </a:r>
            <a:endParaRPr lang="en-US" sz="1100" dirty="0"/>
          </a:p>
        </p:txBody>
      </p:sp>
      <p:sp>
        <p:nvSpPr>
          <p:cNvPr id="32" name="Text 30"/>
          <p:cNvSpPr/>
          <p:nvPr/>
        </p:nvSpPr>
        <p:spPr>
          <a:xfrm>
            <a:off x="10789920" y="6492240"/>
            <a:ext cx="10972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889"/>
                </a:solidFill>
              </a:rPr>
              <a:t>02 / 11</a:t>
            </a:r>
            <a:endParaRPr lang="en-US" sz="9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5040F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54864" cy="6858000"/>
          </a:xfrm>
          <a:prstGeom prst="rect">
            <a:avLst/>
          </a:prstGeom>
          <a:solidFill>
            <a:srgbClr val="10B981"/>
          </a:solidFill>
          <a:ln/>
        </p:spPr>
      </p:sp>
      <p:sp>
        <p:nvSpPr>
          <p:cNvPr id="4" name="Shape 2"/>
          <p:cNvSpPr/>
          <p:nvPr/>
        </p:nvSpPr>
        <p:spPr>
          <a:xfrm>
            <a:off x="54864" y="0"/>
            <a:ext cx="5888736" cy="6858000"/>
          </a:xfrm>
          <a:prstGeom prst="rect">
            <a:avLst/>
          </a:prstGeom>
          <a:solidFill>
            <a:srgbClr val="0F0D1F"/>
          </a:solidFill>
          <a:ln/>
        </p:spPr>
      </p:sp>
      <p:sp>
        <p:nvSpPr>
          <p:cNvPr id="5" name="Text 3"/>
          <p:cNvSpPr/>
          <p:nvPr/>
        </p:nvSpPr>
        <p:spPr>
          <a:xfrm>
            <a:off x="274320" y="91440"/>
            <a:ext cx="2286000" cy="1280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600" b="1" spc="-400" kern="0" dirty="0">
                <a:solidFill>
                  <a:srgbClr val="E2E0F0">
                    <a:alpha val="12000"/>
                  </a:srgbClr>
                </a:solidFill>
              </a:rPr>
              <a:t>03</a:t>
            </a:r>
            <a:endParaRPr lang="en-US" sz="9600" dirty="0"/>
          </a:p>
        </p:txBody>
      </p:sp>
      <p:sp>
        <p:nvSpPr>
          <p:cNvPr id="6" name="Text 4"/>
          <p:cNvSpPr/>
          <p:nvPr/>
        </p:nvSpPr>
        <p:spPr>
          <a:xfrm>
            <a:off x="274320" y="868680"/>
            <a:ext cx="54864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2600" b="1" dirty="0">
                <a:solidFill>
                  <a:srgbClr val="FFFFFF"/>
                </a:solidFill>
              </a:rPr>
              <a:t>BitsEye Revenue &amp; Margin Analytics</a:t>
            </a:r>
            <a:endParaRPr lang="en-US" sz="2600" dirty="0"/>
          </a:p>
        </p:txBody>
      </p:sp>
      <p:sp>
        <p:nvSpPr>
          <p:cNvPr id="7" name="Text 5"/>
          <p:cNvSpPr/>
          <p:nvPr/>
        </p:nvSpPr>
        <p:spPr>
          <a:xfrm>
            <a:off x="274320" y="1783080"/>
            <a:ext cx="548640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6B6889"/>
                </a:solidFill>
              </a:rPr>
              <a:t>Live drill-down from carrier KPIs to per-account profitability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274320" y="2212848"/>
            <a:ext cx="5486400" cy="0"/>
          </a:xfrm>
          <a:prstGeom prst="line">
            <a:avLst/>
          </a:prstGeom>
          <a:noFill/>
          <a:ln w="19050">
            <a:solidFill>
              <a:srgbClr val="10B981">
                <a:alpha val="40000"/>
              </a:srgbClr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274320" y="2432304"/>
            <a:ext cx="91440" cy="91440"/>
          </a:xfrm>
          <a:prstGeom prst="ellipse">
            <a:avLst/>
          </a:prstGeom>
          <a:solidFill>
            <a:srgbClr val="10B981"/>
          </a:solidFill>
          <a:ln/>
        </p:spPr>
      </p:sp>
      <p:sp>
        <p:nvSpPr>
          <p:cNvPr id="10" name="Text 8"/>
          <p:cNvSpPr/>
          <p:nvPr/>
        </p:nvSpPr>
        <p:spPr>
          <a:xfrm>
            <a:off x="457200" y="2377440"/>
            <a:ext cx="539496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Breaks down traffic, ASR, ACD, MOS scores, and route quality by client, vendor, destination, and time window — live, not batch-processed overnight.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274320" y="3666744"/>
            <a:ext cx="91440" cy="91440"/>
          </a:xfrm>
          <a:prstGeom prst="ellipse">
            <a:avLst/>
          </a:prstGeom>
          <a:solidFill>
            <a:srgbClr val="10B981"/>
          </a:solidFill>
          <a:ln/>
        </p:spPr>
      </p:sp>
      <p:sp>
        <p:nvSpPr>
          <p:cNvPr id="12" name="Text 10"/>
          <p:cNvSpPr/>
          <p:nvPr/>
        </p:nvSpPr>
        <p:spPr>
          <a:xfrm>
            <a:off x="457200" y="3611880"/>
            <a:ext cx="539496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Revenue and cost data are overlaid on the same view, surfacing margin per route and per client in real time without requiring a BI tool or spreadsheet export.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274320" y="4901184"/>
            <a:ext cx="91440" cy="91440"/>
          </a:xfrm>
          <a:prstGeom prst="ellipse">
            <a:avLst/>
          </a:prstGeom>
          <a:solidFill>
            <a:srgbClr val="10B981"/>
          </a:solidFill>
          <a:ln/>
        </p:spPr>
      </p:sp>
      <p:sp>
        <p:nvSpPr>
          <p:cNvPr id="14" name="Text 12"/>
          <p:cNvSpPr/>
          <p:nvPr/>
        </p:nvSpPr>
        <p:spPr>
          <a:xfrm>
            <a:off x="457200" y="4846320"/>
            <a:ext cx="539496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Drill-down from summary KPIs to individual call detail gives operations and commercial teams the same single source of truth.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6217920" y="274320"/>
            <a:ext cx="5669280" cy="3017520"/>
          </a:xfrm>
          <a:prstGeom prst="rect">
            <a:avLst/>
          </a:prstGeom>
          <a:solidFill>
            <a:srgbClr val="0F0D1F"/>
          </a:solidFill>
          <a:ln w="12700">
            <a:solidFill>
              <a:srgbClr val="1E1B3A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6492240" y="502920"/>
            <a:ext cx="5120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6B6889"/>
                </a:solidFill>
              </a:rPr>
              <a:t>PERFORMANCE INDICATORS</a:t>
            </a:r>
            <a:endParaRPr lang="en-US" sz="800" dirty="0"/>
          </a:p>
        </p:txBody>
      </p:sp>
      <p:sp>
        <p:nvSpPr>
          <p:cNvPr id="17" name="Text 15"/>
          <p:cNvSpPr/>
          <p:nvPr/>
        </p:nvSpPr>
        <p:spPr>
          <a:xfrm>
            <a:off x="6492240" y="960120"/>
            <a:ext cx="2011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6889"/>
                </a:solidFill>
              </a:rPr>
              <a:t>Data Freshness</a:t>
            </a:r>
            <a:endParaRPr lang="en-US" sz="1000" dirty="0"/>
          </a:p>
        </p:txBody>
      </p:sp>
      <p:sp>
        <p:nvSpPr>
          <p:cNvPr id="18" name="Shape 16"/>
          <p:cNvSpPr/>
          <p:nvPr/>
        </p:nvSpPr>
        <p:spPr>
          <a:xfrm>
            <a:off x="8595360" y="1014984"/>
            <a:ext cx="2560320" cy="146304"/>
          </a:xfrm>
          <a:prstGeom prst="rect">
            <a:avLst/>
          </a:prstGeom>
          <a:solidFill>
            <a:srgbClr val="1E1B3A"/>
          </a:solidFill>
          <a:ln/>
        </p:spPr>
      </p:sp>
      <p:sp>
        <p:nvSpPr>
          <p:cNvPr id="19" name="Shape 17"/>
          <p:cNvSpPr/>
          <p:nvPr/>
        </p:nvSpPr>
        <p:spPr>
          <a:xfrm>
            <a:off x="8595360" y="1014984"/>
            <a:ext cx="2509114" cy="146304"/>
          </a:xfrm>
          <a:prstGeom prst="rect">
            <a:avLst/>
          </a:prstGeom>
          <a:solidFill>
            <a:srgbClr val="10B981"/>
          </a:solidFill>
          <a:ln/>
        </p:spPr>
      </p:sp>
      <p:sp>
        <p:nvSpPr>
          <p:cNvPr id="20" name="Text 18"/>
          <p:cNvSpPr/>
          <p:nvPr/>
        </p:nvSpPr>
        <p:spPr>
          <a:xfrm>
            <a:off x="11247120" y="960120"/>
            <a:ext cx="914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10B981"/>
                </a:solidFill>
              </a:rPr>
              <a:t>98%</a:t>
            </a:r>
            <a:endParaRPr lang="en-US" sz="1100" dirty="0"/>
          </a:p>
        </p:txBody>
      </p:sp>
      <p:sp>
        <p:nvSpPr>
          <p:cNvPr id="21" name="Text 19"/>
          <p:cNvSpPr/>
          <p:nvPr/>
        </p:nvSpPr>
        <p:spPr>
          <a:xfrm>
            <a:off x="6492240" y="1618488"/>
            <a:ext cx="2011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6889"/>
                </a:solidFill>
              </a:rPr>
              <a:t>Decision Speed</a:t>
            </a:r>
            <a:endParaRPr lang="en-US" sz="1000" dirty="0"/>
          </a:p>
        </p:txBody>
      </p:sp>
      <p:sp>
        <p:nvSpPr>
          <p:cNvPr id="22" name="Shape 20"/>
          <p:cNvSpPr/>
          <p:nvPr/>
        </p:nvSpPr>
        <p:spPr>
          <a:xfrm>
            <a:off x="8595360" y="1673352"/>
            <a:ext cx="2560320" cy="146304"/>
          </a:xfrm>
          <a:prstGeom prst="rect">
            <a:avLst/>
          </a:prstGeom>
          <a:solidFill>
            <a:srgbClr val="1E1B3A"/>
          </a:solidFill>
          <a:ln/>
        </p:spPr>
      </p:sp>
      <p:sp>
        <p:nvSpPr>
          <p:cNvPr id="23" name="Shape 21"/>
          <p:cNvSpPr/>
          <p:nvPr/>
        </p:nvSpPr>
        <p:spPr>
          <a:xfrm>
            <a:off x="8595360" y="1673352"/>
            <a:ext cx="2304288" cy="146304"/>
          </a:xfrm>
          <a:prstGeom prst="rect">
            <a:avLst/>
          </a:prstGeom>
          <a:solidFill>
            <a:srgbClr val="06B6D4"/>
          </a:solidFill>
          <a:ln/>
        </p:spPr>
      </p:sp>
      <p:sp>
        <p:nvSpPr>
          <p:cNvPr id="24" name="Text 22"/>
          <p:cNvSpPr/>
          <p:nvPr/>
        </p:nvSpPr>
        <p:spPr>
          <a:xfrm>
            <a:off x="11247120" y="1618488"/>
            <a:ext cx="914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06B6D4"/>
                </a:solidFill>
              </a:rPr>
              <a:t>90%</a:t>
            </a:r>
            <a:endParaRPr lang="en-US" sz="1100" dirty="0"/>
          </a:p>
        </p:txBody>
      </p:sp>
      <p:sp>
        <p:nvSpPr>
          <p:cNvPr id="25" name="Text 23"/>
          <p:cNvSpPr/>
          <p:nvPr/>
        </p:nvSpPr>
        <p:spPr>
          <a:xfrm>
            <a:off x="6492240" y="2276856"/>
            <a:ext cx="2011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6889"/>
                </a:solidFill>
              </a:rPr>
              <a:t>Margin Visibility</a:t>
            </a:r>
            <a:endParaRPr lang="en-US" sz="1000" dirty="0"/>
          </a:p>
        </p:txBody>
      </p:sp>
      <p:sp>
        <p:nvSpPr>
          <p:cNvPr id="26" name="Shape 24"/>
          <p:cNvSpPr/>
          <p:nvPr/>
        </p:nvSpPr>
        <p:spPr>
          <a:xfrm>
            <a:off x="8595360" y="2331720"/>
            <a:ext cx="2560320" cy="146304"/>
          </a:xfrm>
          <a:prstGeom prst="rect">
            <a:avLst/>
          </a:prstGeom>
          <a:solidFill>
            <a:srgbClr val="1E1B3A"/>
          </a:solidFill>
          <a:ln/>
        </p:spPr>
      </p:sp>
      <p:sp>
        <p:nvSpPr>
          <p:cNvPr id="27" name="Shape 25"/>
          <p:cNvSpPr/>
          <p:nvPr/>
        </p:nvSpPr>
        <p:spPr>
          <a:xfrm>
            <a:off x="8595360" y="2331720"/>
            <a:ext cx="2432304" cy="146304"/>
          </a:xfrm>
          <a:prstGeom prst="rect">
            <a:avLst/>
          </a:prstGeom>
          <a:solidFill>
            <a:srgbClr val="8B5CF6"/>
          </a:solidFill>
          <a:ln/>
        </p:spPr>
      </p:sp>
      <p:sp>
        <p:nvSpPr>
          <p:cNvPr id="28" name="Text 26"/>
          <p:cNvSpPr/>
          <p:nvPr/>
        </p:nvSpPr>
        <p:spPr>
          <a:xfrm>
            <a:off x="11247120" y="2276856"/>
            <a:ext cx="914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8B5CF6"/>
                </a:solidFill>
              </a:rPr>
              <a:t>95%</a:t>
            </a:r>
            <a:endParaRPr lang="en-US" sz="1100" dirty="0"/>
          </a:p>
        </p:txBody>
      </p:sp>
      <p:sp>
        <p:nvSpPr>
          <p:cNvPr id="29" name="Shape 27"/>
          <p:cNvSpPr/>
          <p:nvPr/>
        </p:nvSpPr>
        <p:spPr>
          <a:xfrm>
            <a:off x="6217920" y="3474720"/>
            <a:ext cx="5669280" cy="3063240"/>
          </a:xfrm>
          <a:prstGeom prst="rect">
            <a:avLst/>
          </a:prstGeom>
          <a:solidFill>
            <a:srgbClr val="10B981">
              <a:alpha val="6000"/>
            </a:srgbClr>
          </a:solidFill>
          <a:ln w="12700">
            <a:solidFill>
              <a:srgbClr val="10B981">
                <a:alpha val="30000"/>
              </a:srgbClr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6492240" y="3703320"/>
            <a:ext cx="512064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10B981"/>
                </a:solidFill>
              </a:rPr>
              <a:t>DECISION-MAKING IMPACT</a:t>
            </a:r>
            <a:endParaRPr lang="en-US" sz="800" dirty="0"/>
          </a:p>
        </p:txBody>
      </p:sp>
      <p:sp>
        <p:nvSpPr>
          <p:cNvPr id="31" name="Text 29"/>
          <p:cNvSpPr/>
          <p:nvPr/>
        </p:nvSpPr>
        <p:spPr>
          <a:xfrm>
            <a:off x="6492240" y="4069080"/>
            <a:ext cx="5120640" cy="2286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6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Most carriers currently run revenue analytics in spreadsheets with 24-hour lag. Replacing that with live drill-down analytics is a flagship differentiator for commercial and finance buyers.</a:t>
            </a:r>
            <a:endParaRPr lang="en-US" sz="1100" dirty="0"/>
          </a:p>
        </p:txBody>
      </p:sp>
      <p:sp>
        <p:nvSpPr>
          <p:cNvPr id="32" name="Text 30"/>
          <p:cNvSpPr/>
          <p:nvPr/>
        </p:nvSpPr>
        <p:spPr>
          <a:xfrm>
            <a:off x="10789920" y="6492240"/>
            <a:ext cx="10972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889"/>
                </a:solidFill>
              </a:rPr>
              <a:t>03 / 11</a:t>
            </a:r>
            <a:endParaRPr lang="en-US" sz="9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5040F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54864" cy="6858000"/>
          </a:xfrm>
          <a:prstGeom prst="rect">
            <a:avLst/>
          </a:prstGeom>
          <a:solidFill>
            <a:srgbClr val="8B5CF6"/>
          </a:solidFill>
          <a:ln/>
        </p:spPr>
      </p:sp>
      <p:sp>
        <p:nvSpPr>
          <p:cNvPr id="4" name="Shape 2"/>
          <p:cNvSpPr/>
          <p:nvPr/>
        </p:nvSpPr>
        <p:spPr>
          <a:xfrm>
            <a:off x="54864" y="0"/>
            <a:ext cx="5888736" cy="6858000"/>
          </a:xfrm>
          <a:prstGeom prst="rect">
            <a:avLst/>
          </a:prstGeom>
          <a:solidFill>
            <a:srgbClr val="0F0D1F"/>
          </a:solidFill>
          <a:ln/>
        </p:spPr>
      </p:sp>
      <p:sp>
        <p:nvSpPr>
          <p:cNvPr id="5" name="Text 3"/>
          <p:cNvSpPr/>
          <p:nvPr/>
        </p:nvSpPr>
        <p:spPr>
          <a:xfrm>
            <a:off x="274320" y="91440"/>
            <a:ext cx="2286000" cy="1280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600" b="1" spc="-400" kern="0" dirty="0">
                <a:solidFill>
                  <a:srgbClr val="E2E0F0">
                    <a:alpha val="12000"/>
                  </a:srgbClr>
                </a:solidFill>
              </a:rPr>
              <a:t>04</a:t>
            </a:r>
            <a:endParaRPr lang="en-US" sz="9600" dirty="0"/>
          </a:p>
        </p:txBody>
      </p:sp>
      <p:sp>
        <p:nvSpPr>
          <p:cNvPr id="6" name="Text 4"/>
          <p:cNvSpPr/>
          <p:nvPr/>
        </p:nvSpPr>
        <p:spPr>
          <a:xfrm>
            <a:off x="274320" y="868680"/>
            <a:ext cx="54864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2600" b="1" dirty="0">
                <a:solidFill>
                  <a:srgbClr val="FFFFFF"/>
                </a:solidFill>
              </a:rPr>
              <a:t>LCR Analyser</a:t>
            </a:r>
            <a:endParaRPr lang="en-US" sz="2600" dirty="0"/>
          </a:p>
        </p:txBody>
      </p:sp>
      <p:sp>
        <p:nvSpPr>
          <p:cNvPr id="7" name="Text 5"/>
          <p:cNvSpPr/>
          <p:nvPr/>
        </p:nvSpPr>
        <p:spPr>
          <a:xfrm>
            <a:off x="274320" y="1783080"/>
            <a:ext cx="548640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6B6889"/>
                </a:solidFill>
              </a:rPr>
              <a:t>Least-cost routing analysis with policy simulation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274320" y="2212848"/>
            <a:ext cx="5486400" cy="0"/>
          </a:xfrm>
          <a:prstGeom prst="line">
            <a:avLst/>
          </a:prstGeom>
          <a:noFill/>
          <a:ln w="19050">
            <a:solidFill>
              <a:srgbClr val="8B5CF6">
                <a:alpha val="40000"/>
              </a:srgbClr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274320" y="2432304"/>
            <a:ext cx="91440" cy="91440"/>
          </a:xfrm>
          <a:prstGeom prst="ellipse">
            <a:avLst/>
          </a:prstGeom>
          <a:solidFill>
            <a:srgbClr val="8B5CF6"/>
          </a:solidFill>
          <a:ln/>
        </p:spPr>
      </p:sp>
      <p:sp>
        <p:nvSpPr>
          <p:cNvPr id="10" name="Text 8"/>
          <p:cNvSpPr/>
          <p:nvPr/>
        </p:nvSpPr>
        <p:spPr>
          <a:xfrm>
            <a:off x="457200" y="2377440"/>
            <a:ext cx="539496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Compares route costs, quality scores (ASR, ACD, PDD), and coverage across all active vendor connections to identify the optimal routing path for any destination prefix.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274320" y="3666744"/>
            <a:ext cx="91440" cy="91440"/>
          </a:xfrm>
          <a:prstGeom prst="ellipse">
            <a:avLst/>
          </a:prstGeom>
          <a:solidFill>
            <a:srgbClr val="8B5CF6"/>
          </a:solidFill>
          <a:ln/>
        </p:spPr>
      </p:sp>
      <p:sp>
        <p:nvSpPr>
          <p:cNvPr id="12" name="Text 10"/>
          <p:cNvSpPr/>
          <p:nvPr/>
        </p:nvSpPr>
        <p:spPr>
          <a:xfrm>
            <a:off x="457200" y="3611880"/>
            <a:ext cx="539496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Built-in Policy Simulator lets operators test routing changes in a sandboxed environment and preview the cost and quality impact before committing to the live switch.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274320" y="4901184"/>
            <a:ext cx="91440" cy="91440"/>
          </a:xfrm>
          <a:prstGeom prst="ellipse">
            <a:avLst/>
          </a:prstGeom>
          <a:solidFill>
            <a:srgbClr val="8B5CF6"/>
          </a:solidFill>
          <a:ln/>
        </p:spPr>
      </p:sp>
      <p:sp>
        <p:nvSpPr>
          <p:cNvPr id="14" name="Text 12"/>
          <p:cNvSpPr/>
          <p:nvPr/>
        </p:nvSpPr>
        <p:spPr>
          <a:xfrm>
            <a:off x="457200" y="4846320"/>
            <a:ext cx="539496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Coverage Checker validates prefix-level route availability across all routing groups, surfacing gaps before they cause failed calls.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6217920" y="274320"/>
            <a:ext cx="5669280" cy="3017520"/>
          </a:xfrm>
          <a:prstGeom prst="rect">
            <a:avLst/>
          </a:prstGeom>
          <a:solidFill>
            <a:srgbClr val="0F0D1F"/>
          </a:solidFill>
          <a:ln w="12700">
            <a:solidFill>
              <a:srgbClr val="1E1B3A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6492240" y="502920"/>
            <a:ext cx="5120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6B6889"/>
                </a:solidFill>
              </a:rPr>
              <a:t>PERFORMANCE INDICATORS</a:t>
            </a:r>
            <a:endParaRPr lang="en-US" sz="800" dirty="0"/>
          </a:p>
        </p:txBody>
      </p:sp>
      <p:sp>
        <p:nvSpPr>
          <p:cNvPr id="17" name="Text 15"/>
          <p:cNvSpPr/>
          <p:nvPr/>
        </p:nvSpPr>
        <p:spPr>
          <a:xfrm>
            <a:off x="6492240" y="960120"/>
            <a:ext cx="2011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6889"/>
                </a:solidFill>
              </a:rPr>
              <a:t>Cost Reduction</a:t>
            </a:r>
            <a:endParaRPr lang="en-US" sz="1000" dirty="0"/>
          </a:p>
        </p:txBody>
      </p:sp>
      <p:sp>
        <p:nvSpPr>
          <p:cNvPr id="18" name="Shape 16"/>
          <p:cNvSpPr/>
          <p:nvPr/>
        </p:nvSpPr>
        <p:spPr>
          <a:xfrm>
            <a:off x="8595360" y="1014984"/>
            <a:ext cx="2560320" cy="146304"/>
          </a:xfrm>
          <a:prstGeom prst="rect">
            <a:avLst/>
          </a:prstGeom>
          <a:solidFill>
            <a:srgbClr val="1E1B3A"/>
          </a:solidFill>
          <a:ln/>
        </p:spPr>
      </p:sp>
      <p:sp>
        <p:nvSpPr>
          <p:cNvPr id="19" name="Shape 17"/>
          <p:cNvSpPr/>
          <p:nvPr/>
        </p:nvSpPr>
        <p:spPr>
          <a:xfrm>
            <a:off x="8595360" y="1014984"/>
            <a:ext cx="1997050" cy="146304"/>
          </a:xfrm>
          <a:prstGeom prst="rect">
            <a:avLst/>
          </a:prstGeom>
          <a:solidFill>
            <a:srgbClr val="8B5CF6"/>
          </a:solidFill>
          <a:ln/>
        </p:spPr>
      </p:sp>
      <p:sp>
        <p:nvSpPr>
          <p:cNvPr id="20" name="Text 18"/>
          <p:cNvSpPr/>
          <p:nvPr/>
        </p:nvSpPr>
        <p:spPr>
          <a:xfrm>
            <a:off x="11247120" y="960120"/>
            <a:ext cx="914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8B5CF6"/>
                </a:solidFill>
              </a:rPr>
              <a:t>78%</a:t>
            </a:r>
            <a:endParaRPr lang="en-US" sz="1100" dirty="0"/>
          </a:p>
        </p:txBody>
      </p:sp>
      <p:sp>
        <p:nvSpPr>
          <p:cNvPr id="21" name="Text 19"/>
          <p:cNvSpPr/>
          <p:nvPr/>
        </p:nvSpPr>
        <p:spPr>
          <a:xfrm>
            <a:off x="6492240" y="1618488"/>
            <a:ext cx="2011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6889"/>
                </a:solidFill>
              </a:rPr>
              <a:t>Route Coverage</a:t>
            </a:r>
            <a:endParaRPr lang="en-US" sz="1000" dirty="0"/>
          </a:p>
        </p:txBody>
      </p:sp>
      <p:sp>
        <p:nvSpPr>
          <p:cNvPr id="22" name="Shape 20"/>
          <p:cNvSpPr/>
          <p:nvPr/>
        </p:nvSpPr>
        <p:spPr>
          <a:xfrm>
            <a:off x="8595360" y="1673352"/>
            <a:ext cx="2560320" cy="146304"/>
          </a:xfrm>
          <a:prstGeom prst="rect">
            <a:avLst/>
          </a:prstGeom>
          <a:solidFill>
            <a:srgbClr val="1E1B3A"/>
          </a:solidFill>
          <a:ln/>
        </p:spPr>
      </p:sp>
      <p:sp>
        <p:nvSpPr>
          <p:cNvPr id="23" name="Shape 21"/>
          <p:cNvSpPr/>
          <p:nvPr/>
        </p:nvSpPr>
        <p:spPr>
          <a:xfrm>
            <a:off x="8595360" y="1673352"/>
            <a:ext cx="2457907" cy="146304"/>
          </a:xfrm>
          <a:prstGeom prst="rect">
            <a:avLst/>
          </a:prstGeom>
          <a:solidFill>
            <a:srgbClr val="10B981"/>
          </a:solidFill>
          <a:ln/>
        </p:spPr>
      </p:sp>
      <p:sp>
        <p:nvSpPr>
          <p:cNvPr id="24" name="Text 22"/>
          <p:cNvSpPr/>
          <p:nvPr/>
        </p:nvSpPr>
        <p:spPr>
          <a:xfrm>
            <a:off x="11247120" y="1618488"/>
            <a:ext cx="914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10B981"/>
                </a:solidFill>
              </a:rPr>
              <a:t>96%</a:t>
            </a:r>
            <a:endParaRPr lang="en-US" sz="1100" dirty="0"/>
          </a:p>
        </p:txBody>
      </p:sp>
      <p:sp>
        <p:nvSpPr>
          <p:cNvPr id="25" name="Text 23"/>
          <p:cNvSpPr/>
          <p:nvPr/>
        </p:nvSpPr>
        <p:spPr>
          <a:xfrm>
            <a:off x="6492240" y="2276856"/>
            <a:ext cx="2011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6889"/>
                </a:solidFill>
              </a:rPr>
              <a:t>Simulation Accuracy</a:t>
            </a:r>
            <a:endParaRPr lang="en-US" sz="1000" dirty="0"/>
          </a:p>
        </p:txBody>
      </p:sp>
      <p:sp>
        <p:nvSpPr>
          <p:cNvPr id="26" name="Shape 24"/>
          <p:cNvSpPr/>
          <p:nvPr/>
        </p:nvSpPr>
        <p:spPr>
          <a:xfrm>
            <a:off x="8595360" y="2331720"/>
            <a:ext cx="2560320" cy="146304"/>
          </a:xfrm>
          <a:prstGeom prst="rect">
            <a:avLst/>
          </a:prstGeom>
          <a:solidFill>
            <a:srgbClr val="1E1B3A"/>
          </a:solidFill>
          <a:ln/>
        </p:spPr>
      </p:sp>
      <p:sp>
        <p:nvSpPr>
          <p:cNvPr id="27" name="Shape 25"/>
          <p:cNvSpPr/>
          <p:nvPr/>
        </p:nvSpPr>
        <p:spPr>
          <a:xfrm>
            <a:off x="8595360" y="2331720"/>
            <a:ext cx="2355494" cy="146304"/>
          </a:xfrm>
          <a:prstGeom prst="rect">
            <a:avLst/>
          </a:prstGeom>
          <a:solidFill>
            <a:srgbClr val="F59E0B"/>
          </a:solidFill>
          <a:ln/>
        </p:spPr>
      </p:sp>
      <p:sp>
        <p:nvSpPr>
          <p:cNvPr id="28" name="Text 26"/>
          <p:cNvSpPr/>
          <p:nvPr/>
        </p:nvSpPr>
        <p:spPr>
          <a:xfrm>
            <a:off x="11247120" y="2276856"/>
            <a:ext cx="914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F59E0B"/>
                </a:solidFill>
              </a:rPr>
              <a:t>92%</a:t>
            </a:r>
            <a:endParaRPr lang="en-US" sz="1100" dirty="0"/>
          </a:p>
        </p:txBody>
      </p:sp>
      <p:sp>
        <p:nvSpPr>
          <p:cNvPr id="29" name="Shape 27"/>
          <p:cNvSpPr/>
          <p:nvPr/>
        </p:nvSpPr>
        <p:spPr>
          <a:xfrm>
            <a:off x="6217920" y="3474720"/>
            <a:ext cx="5669280" cy="3063240"/>
          </a:xfrm>
          <a:prstGeom prst="rect">
            <a:avLst/>
          </a:prstGeom>
          <a:solidFill>
            <a:srgbClr val="8B5CF6">
              <a:alpha val="6000"/>
            </a:srgbClr>
          </a:solidFill>
          <a:ln w="12700">
            <a:solidFill>
              <a:srgbClr val="8B5CF6">
                <a:alpha val="30000"/>
              </a:srgbClr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6492240" y="3703320"/>
            <a:ext cx="512064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8B5CF6"/>
                </a:solidFill>
              </a:rPr>
              <a:t>DECISION-MAKING IMPACT</a:t>
            </a:r>
            <a:endParaRPr lang="en-US" sz="800" dirty="0"/>
          </a:p>
        </p:txBody>
      </p:sp>
      <p:sp>
        <p:nvSpPr>
          <p:cNvPr id="31" name="Text 29"/>
          <p:cNvSpPr/>
          <p:nvPr/>
        </p:nvSpPr>
        <p:spPr>
          <a:xfrm>
            <a:off x="6492240" y="4069080"/>
            <a:ext cx="5120640" cy="2286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6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LCR optimisation directly compresses cost of goods. A 5% improvement in routing efficiency on a carrier doing $500K/month revenue translates to $25K/month in margin recovery.</a:t>
            </a:r>
            <a:endParaRPr lang="en-US" sz="1100" dirty="0"/>
          </a:p>
        </p:txBody>
      </p:sp>
      <p:sp>
        <p:nvSpPr>
          <p:cNvPr id="32" name="Text 30"/>
          <p:cNvSpPr/>
          <p:nvPr/>
        </p:nvSpPr>
        <p:spPr>
          <a:xfrm>
            <a:off x="10789920" y="6492240"/>
            <a:ext cx="10972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889"/>
                </a:solidFill>
              </a:rPr>
              <a:t>04 / 11</a:t>
            </a:r>
            <a:endParaRPr lang="en-US" sz="9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5040F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54864" cy="6858000"/>
          </a:xfrm>
          <a:prstGeom prst="rect">
            <a:avLst/>
          </a:prstGeom>
          <a:solidFill>
            <a:srgbClr val="06B6D4"/>
          </a:solidFill>
          <a:ln/>
        </p:spPr>
      </p:sp>
      <p:sp>
        <p:nvSpPr>
          <p:cNvPr id="4" name="Shape 2"/>
          <p:cNvSpPr/>
          <p:nvPr/>
        </p:nvSpPr>
        <p:spPr>
          <a:xfrm>
            <a:off x="54864" y="0"/>
            <a:ext cx="5888736" cy="6858000"/>
          </a:xfrm>
          <a:prstGeom prst="rect">
            <a:avLst/>
          </a:prstGeom>
          <a:solidFill>
            <a:srgbClr val="0F0D1F"/>
          </a:solidFill>
          <a:ln/>
        </p:spPr>
      </p:sp>
      <p:sp>
        <p:nvSpPr>
          <p:cNvPr id="5" name="Text 3"/>
          <p:cNvSpPr/>
          <p:nvPr/>
        </p:nvSpPr>
        <p:spPr>
          <a:xfrm>
            <a:off x="274320" y="91440"/>
            <a:ext cx="2286000" cy="1280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600" b="1" spc="-400" kern="0" dirty="0">
                <a:solidFill>
                  <a:srgbClr val="E2E0F0">
                    <a:alpha val="12000"/>
                  </a:srgbClr>
                </a:solidFill>
              </a:rPr>
              <a:t>05</a:t>
            </a:r>
            <a:endParaRPr lang="en-US" sz="9600" dirty="0"/>
          </a:p>
        </p:txBody>
      </p:sp>
      <p:sp>
        <p:nvSpPr>
          <p:cNvPr id="6" name="Text 4"/>
          <p:cNvSpPr/>
          <p:nvPr/>
        </p:nvSpPr>
        <p:spPr>
          <a:xfrm>
            <a:off x="274320" y="868680"/>
            <a:ext cx="54864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2600" b="1" dirty="0">
                <a:solidFill>
                  <a:srgbClr val="FFFFFF"/>
                </a:solidFill>
              </a:rPr>
              <a:t>KAM Hierarchy &amp; Account Scoping</a:t>
            </a:r>
            <a:endParaRPr lang="en-US" sz="2600" dirty="0"/>
          </a:p>
        </p:txBody>
      </p:sp>
      <p:sp>
        <p:nvSpPr>
          <p:cNvPr id="7" name="Text 5"/>
          <p:cNvSpPr/>
          <p:nvPr/>
        </p:nvSpPr>
        <p:spPr>
          <a:xfrm>
            <a:off x="274320" y="1783080"/>
            <a:ext cx="548640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6B6889"/>
                </a:solidFill>
              </a:rPr>
              <a:t>Organisational hierarchy with enforced data boundaries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274320" y="2212848"/>
            <a:ext cx="5486400" cy="0"/>
          </a:xfrm>
          <a:prstGeom prst="line">
            <a:avLst/>
          </a:prstGeom>
          <a:noFill/>
          <a:ln w="19050">
            <a:solidFill>
              <a:srgbClr val="06B6D4">
                <a:alpha val="40000"/>
              </a:srgbClr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274320" y="2432304"/>
            <a:ext cx="91440" cy="91440"/>
          </a:xfrm>
          <a:prstGeom prst="ellipse">
            <a:avLst/>
          </a:prstGeom>
          <a:solidFill>
            <a:srgbClr val="06B6D4"/>
          </a:solidFill>
          <a:ln/>
        </p:spPr>
      </p:sp>
      <p:sp>
        <p:nvSpPr>
          <p:cNvPr id="10" name="Text 8"/>
          <p:cNvSpPr/>
          <p:nvPr/>
        </p:nvSpPr>
        <p:spPr>
          <a:xfrm>
            <a:off x="457200" y="2377440"/>
            <a:ext cx="539496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Full 6-level org tree (HOD → SVP → VP → Manager → Team Lead → KAM) with account assignments at each level — every user sees only their own scope, enforced at the API layer.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274320" y="3666744"/>
            <a:ext cx="91440" cy="91440"/>
          </a:xfrm>
          <a:prstGeom prst="ellipse">
            <a:avLst/>
          </a:prstGeom>
          <a:solidFill>
            <a:srgbClr val="06B6D4"/>
          </a:solidFill>
          <a:ln/>
        </p:spPr>
      </p:sp>
      <p:sp>
        <p:nvSpPr>
          <p:cNvPr id="12" name="Text 10"/>
          <p:cNvSpPr/>
          <p:nvPr/>
        </p:nvSpPr>
        <p:spPr>
          <a:xfrm>
            <a:off x="457200" y="3611880"/>
            <a:ext cx="539496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KAMs are automatically assigned live traffic, balance, and CDR data for their accounts only, making accountability clear without manual filtering.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274320" y="4901184"/>
            <a:ext cx="91440" cy="91440"/>
          </a:xfrm>
          <a:prstGeom prst="ellipse">
            <a:avLst/>
          </a:prstGeom>
          <a:solidFill>
            <a:srgbClr val="06B6D4"/>
          </a:solidFill>
          <a:ln/>
        </p:spPr>
      </p:sp>
      <p:sp>
        <p:nvSpPr>
          <p:cNvPr id="14" name="Text 12"/>
          <p:cNvSpPr/>
          <p:nvPr/>
        </p:nvSpPr>
        <p:spPr>
          <a:xfrm>
            <a:off x="457200" y="4846320"/>
            <a:ext cx="539496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Leadership views aggregate data across the full tree, giving management visibility while maintaining role discipline at the operational level.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6217920" y="274320"/>
            <a:ext cx="5669280" cy="3017520"/>
          </a:xfrm>
          <a:prstGeom prst="rect">
            <a:avLst/>
          </a:prstGeom>
          <a:solidFill>
            <a:srgbClr val="0F0D1F"/>
          </a:solidFill>
          <a:ln w="12700">
            <a:solidFill>
              <a:srgbClr val="1E1B3A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6492240" y="502920"/>
            <a:ext cx="5120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6B6889"/>
                </a:solidFill>
              </a:rPr>
              <a:t>PERFORMANCE INDICATORS</a:t>
            </a:r>
            <a:endParaRPr lang="en-US" sz="800" dirty="0"/>
          </a:p>
        </p:txBody>
      </p:sp>
      <p:sp>
        <p:nvSpPr>
          <p:cNvPr id="17" name="Text 15"/>
          <p:cNvSpPr/>
          <p:nvPr/>
        </p:nvSpPr>
        <p:spPr>
          <a:xfrm>
            <a:off x="6492240" y="960120"/>
            <a:ext cx="2011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6889"/>
                </a:solidFill>
              </a:rPr>
              <a:t>Account Isolation</a:t>
            </a:r>
            <a:endParaRPr lang="en-US" sz="1000" dirty="0"/>
          </a:p>
        </p:txBody>
      </p:sp>
      <p:sp>
        <p:nvSpPr>
          <p:cNvPr id="18" name="Shape 16"/>
          <p:cNvSpPr/>
          <p:nvPr/>
        </p:nvSpPr>
        <p:spPr>
          <a:xfrm>
            <a:off x="8595360" y="1014984"/>
            <a:ext cx="2560320" cy="146304"/>
          </a:xfrm>
          <a:prstGeom prst="rect">
            <a:avLst/>
          </a:prstGeom>
          <a:solidFill>
            <a:srgbClr val="1E1B3A"/>
          </a:solidFill>
          <a:ln/>
        </p:spPr>
      </p:sp>
      <p:sp>
        <p:nvSpPr>
          <p:cNvPr id="19" name="Shape 17"/>
          <p:cNvSpPr/>
          <p:nvPr/>
        </p:nvSpPr>
        <p:spPr>
          <a:xfrm>
            <a:off x="8595360" y="1014984"/>
            <a:ext cx="2560320" cy="146304"/>
          </a:xfrm>
          <a:prstGeom prst="rect">
            <a:avLst/>
          </a:prstGeom>
          <a:solidFill>
            <a:srgbClr val="06B6D4"/>
          </a:solidFill>
          <a:ln/>
        </p:spPr>
      </p:sp>
      <p:sp>
        <p:nvSpPr>
          <p:cNvPr id="20" name="Text 18"/>
          <p:cNvSpPr/>
          <p:nvPr/>
        </p:nvSpPr>
        <p:spPr>
          <a:xfrm>
            <a:off x="11247120" y="960120"/>
            <a:ext cx="914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06B6D4"/>
                </a:solidFill>
              </a:rPr>
              <a:t>100%</a:t>
            </a:r>
            <a:endParaRPr lang="en-US" sz="1100" dirty="0"/>
          </a:p>
        </p:txBody>
      </p:sp>
      <p:sp>
        <p:nvSpPr>
          <p:cNvPr id="21" name="Text 19"/>
          <p:cNvSpPr/>
          <p:nvPr/>
        </p:nvSpPr>
        <p:spPr>
          <a:xfrm>
            <a:off x="6492240" y="1618488"/>
            <a:ext cx="2011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6889"/>
                </a:solidFill>
              </a:rPr>
              <a:t>Accountability</a:t>
            </a:r>
            <a:endParaRPr lang="en-US" sz="1000" dirty="0"/>
          </a:p>
        </p:txBody>
      </p:sp>
      <p:sp>
        <p:nvSpPr>
          <p:cNvPr id="22" name="Shape 20"/>
          <p:cNvSpPr/>
          <p:nvPr/>
        </p:nvSpPr>
        <p:spPr>
          <a:xfrm>
            <a:off x="8595360" y="1673352"/>
            <a:ext cx="2560320" cy="146304"/>
          </a:xfrm>
          <a:prstGeom prst="rect">
            <a:avLst/>
          </a:prstGeom>
          <a:solidFill>
            <a:srgbClr val="1E1B3A"/>
          </a:solidFill>
          <a:ln/>
        </p:spPr>
      </p:sp>
      <p:sp>
        <p:nvSpPr>
          <p:cNvPr id="23" name="Shape 21"/>
          <p:cNvSpPr/>
          <p:nvPr/>
        </p:nvSpPr>
        <p:spPr>
          <a:xfrm>
            <a:off x="8595360" y="1673352"/>
            <a:ext cx="2381098" cy="146304"/>
          </a:xfrm>
          <a:prstGeom prst="rect">
            <a:avLst/>
          </a:prstGeom>
          <a:solidFill>
            <a:srgbClr val="10B981"/>
          </a:solidFill>
          <a:ln/>
        </p:spPr>
      </p:sp>
      <p:sp>
        <p:nvSpPr>
          <p:cNvPr id="24" name="Text 22"/>
          <p:cNvSpPr/>
          <p:nvPr/>
        </p:nvSpPr>
        <p:spPr>
          <a:xfrm>
            <a:off x="11247120" y="1618488"/>
            <a:ext cx="914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10B981"/>
                </a:solidFill>
              </a:rPr>
              <a:t>93%</a:t>
            </a:r>
            <a:endParaRPr lang="en-US" sz="1100" dirty="0"/>
          </a:p>
        </p:txBody>
      </p:sp>
      <p:sp>
        <p:nvSpPr>
          <p:cNvPr id="25" name="Text 23"/>
          <p:cNvSpPr/>
          <p:nvPr/>
        </p:nvSpPr>
        <p:spPr>
          <a:xfrm>
            <a:off x="6492240" y="2276856"/>
            <a:ext cx="2011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6889"/>
                </a:solidFill>
              </a:rPr>
              <a:t>Onboarding Speed</a:t>
            </a:r>
            <a:endParaRPr lang="en-US" sz="1000" dirty="0"/>
          </a:p>
        </p:txBody>
      </p:sp>
      <p:sp>
        <p:nvSpPr>
          <p:cNvPr id="26" name="Shape 24"/>
          <p:cNvSpPr/>
          <p:nvPr/>
        </p:nvSpPr>
        <p:spPr>
          <a:xfrm>
            <a:off x="8595360" y="2331720"/>
            <a:ext cx="2560320" cy="146304"/>
          </a:xfrm>
          <a:prstGeom prst="rect">
            <a:avLst/>
          </a:prstGeom>
          <a:solidFill>
            <a:srgbClr val="1E1B3A"/>
          </a:solidFill>
          <a:ln/>
        </p:spPr>
      </p:sp>
      <p:sp>
        <p:nvSpPr>
          <p:cNvPr id="27" name="Shape 25"/>
          <p:cNvSpPr/>
          <p:nvPr/>
        </p:nvSpPr>
        <p:spPr>
          <a:xfrm>
            <a:off x="8595360" y="2331720"/>
            <a:ext cx="2099462" cy="146304"/>
          </a:xfrm>
          <a:prstGeom prst="rect">
            <a:avLst/>
          </a:prstGeom>
          <a:solidFill>
            <a:srgbClr val="F59E0B"/>
          </a:solidFill>
          <a:ln/>
        </p:spPr>
      </p:sp>
      <p:sp>
        <p:nvSpPr>
          <p:cNvPr id="28" name="Text 26"/>
          <p:cNvSpPr/>
          <p:nvPr/>
        </p:nvSpPr>
        <p:spPr>
          <a:xfrm>
            <a:off x="11247120" y="2276856"/>
            <a:ext cx="914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F59E0B"/>
                </a:solidFill>
              </a:rPr>
              <a:t>82%</a:t>
            </a:r>
            <a:endParaRPr lang="en-US" sz="1100" dirty="0"/>
          </a:p>
        </p:txBody>
      </p:sp>
      <p:sp>
        <p:nvSpPr>
          <p:cNvPr id="29" name="Shape 27"/>
          <p:cNvSpPr/>
          <p:nvPr/>
        </p:nvSpPr>
        <p:spPr>
          <a:xfrm>
            <a:off x="6217920" y="3474720"/>
            <a:ext cx="5669280" cy="3063240"/>
          </a:xfrm>
          <a:prstGeom prst="rect">
            <a:avLst/>
          </a:prstGeom>
          <a:solidFill>
            <a:srgbClr val="06B6D4">
              <a:alpha val="6000"/>
            </a:srgbClr>
          </a:solidFill>
          <a:ln w="12700">
            <a:solidFill>
              <a:srgbClr val="06B6D4">
                <a:alpha val="30000"/>
              </a:srgbClr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6492240" y="3703320"/>
            <a:ext cx="512064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06B6D4"/>
                </a:solidFill>
              </a:rPr>
              <a:t>DECISION-MAKING IMPACT</a:t>
            </a:r>
            <a:endParaRPr lang="en-US" sz="800" dirty="0"/>
          </a:p>
        </p:txBody>
      </p:sp>
      <p:sp>
        <p:nvSpPr>
          <p:cNvPr id="31" name="Text 29"/>
          <p:cNvSpPr/>
          <p:nvPr/>
        </p:nvSpPr>
        <p:spPr>
          <a:xfrm>
            <a:off x="6492240" y="4069080"/>
            <a:ext cx="5120640" cy="2286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6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For carriers with sales teams and resellers, this replaces custom-built CRM integrations and manual account segmentation. Sales directors close faster when they can show clients their own data in isolation.</a:t>
            </a:r>
            <a:endParaRPr lang="en-US" sz="1100" dirty="0"/>
          </a:p>
        </p:txBody>
      </p:sp>
      <p:sp>
        <p:nvSpPr>
          <p:cNvPr id="32" name="Text 30"/>
          <p:cNvSpPr/>
          <p:nvPr/>
        </p:nvSpPr>
        <p:spPr>
          <a:xfrm>
            <a:off x="10789920" y="6492240"/>
            <a:ext cx="10972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889"/>
                </a:solidFill>
              </a:rPr>
              <a:t>05 / 11</a:t>
            </a:r>
            <a:endParaRPr lang="en-US" sz="9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5040F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54864" cy="6858000"/>
          </a:xfrm>
          <a:prstGeom prst="rect">
            <a:avLst/>
          </a:prstGeom>
          <a:solidFill>
            <a:srgbClr val="F97316"/>
          </a:solidFill>
          <a:ln/>
        </p:spPr>
      </p:sp>
      <p:sp>
        <p:nvSpPr>
          <p:cNvPr id="4" name="Shape 2"/>
          <p:cNvSpPr/>
          <p:nvPr/>
        </p:nvSpPr>
        <p:spPr>
          <a:xfrm>
            <a:off x="54864" y="0"/>
            <a:ext cx="5888736" cy="6858000"/>
          </a:xfrm>
          <a:prstGeom prst="rect">
            <a:avLst/>
          </a:prstGeom>
          <a:solidFill>
            <a:srgbClr val="0F0D1F"/>
          </a:solidFill>
          <a:ln/>
        </p:spPr>
      </p:sp>
      <p:sp>
        <p:nvSpPr>
          <p:cNvPr id="5" name="Text 3"/>
          <p:cNvSpPr/>
          <p:nvPr/>
        </p:nvSpPr>
        <p:spPr>
          <a:xfrm>
            <a:off x="274320" y="91440"/>
            <a:ext cx="2286000" cy="1280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600" b="1" spc="-400" kern="0" dirty="0">
                <a:solidFill>
                  <a:srgbClr val="E2E0F0">
                    <a:alpha val="12000"/>
                  </a:srgbClr>
                </a:solidFill>
              </a:rPr>
              <a:t>06</a:t>
            </a:r>
            <a:endParaRPr lang="en-US" sz="9600" dirty="0"/>
          </a:p>
        </p:txBody>
      </p:sp>
      <p:sp>
        <p:nvSpPr>
          <p:cNvPr id="6" name="Text 4"/>
          <p:cNvSpPr/>
          <p:nvPr/>
        </p:nvSpPr>
        <p:spPr>
          <a:xfrm>
            <a:off x="274320" y="868680"/>
            <a:ext cx="54864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2600" b="1" dirty="0">
                <a:solidFill>
                  <a:srgbClr val="FFFFFF"/>
                </a:solidFill>
              </a:rPr>
              <a:t>Multi-Switch Consolidated View</a:t>
            </a:r>
            <a:endParaRPr lang="en-US" sz="2600" dirty="0"/>
          </a:p>
        </p:txBody>
      </p:sp>
      <p:sp>
        <p:nvSpPr>
          <p:cNvPr id="7" name="Text 5"/>
          <p:cNvSpPr/>
          <p:nvPr/>
        </p:nvSpPr>
        <p:spPr>
          <a:xfrm>
            <a:off x="274320" y="1783080"/>
            <a:ext cx="548640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6B6889"/>
                </a:solidFill>
              </a:rPr>
              <a:t>Single pane of glass across all softswitch instances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274320" y="2212848"/>
            <a:ext cx="5486400" cy="0"/>
          </a:xfrm>
          <a:prstGeom prst="line">
            <a:avLst/>
          </a:prstGeom>
          <a:noFill/>
          <a:ln w="19050">
            <a:solidFill>
              <a:srgbClr val="F97316">
                <a:alpha val="40000"/>
              </a:srgbClr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274320" y="2432304"/>
            <a:ext cx="91440" cy="91440"/>
          </a:xfrm>
          <a:prstGeom prst="ellipse">
            <a:avLst/>
          </a:prstGeom>
          <a:solidFill>
            <a:srgbClr val="F97316"/>
          </a:solidFill>
          <a:ln/>
        </p:spPr>
      </p:sp>
      <p:sp>
        <p:nvSpPr>
          <p:cNvPr id="10" name="Text 8"/>
          <p:cNvSpPr/>
          <p:nvPr/>
        </p:nvSpPr>
        <p:spPr>
          <a:xfrm>
            <a:off x="457200" y="2377440"/>
            <a:ext cx="539496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Aggregates live call data, KPIs, routing state, and alerts from multiple Sippy switch instances into a single unified dashboard — no tab switching between admin portals.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274320" y="3666744"/>
            <a:ext cx="91440" cy="91440"/>
          </a:xfrm>
          <a:prstGeom prst="ellipse">
            <a:avLst/>
          </a:prstGeom>
          <a:solidFill>
            <a:srgbClr val="F97316"/>
          </a:solidFill>
          <a:ln/>
        </p:spPr>
      </p:sp>
      <p:sp>
        <p:nvSpPr>
          <p:cNvPr id="12" name="Text 10"/>
          <p:cNvSpPr/>
          <p:nvPr/>
        </p:nvSpPr>
        <p:spPr>
          <a:xfrm>
            <a:off x="457200" y="3611880"/>
            <a:ext cx="539496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Per-switch health indicators surface capacity utilisation, registration counts, and alarm states in real time, enabling cross-switch traffic balancing decisions.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274320" y="4901184"/>
            <a:ext cx="91440" cy="91440"/>
          </a:xfrm>
          <a:prstGeom prst="ellipse">
            <a:avLst/>
          </a:prstGeom>
          <a:solidFill>
            <a:srgbClr val="F97316"/>
          </a:solidFill>
          <a:ln/>
        </p:spPr>
      </p:sp>
      <p:sp>
        <p:nvSpPr>
          <p:cNvPr id="14" name="Text 12"/>
          <p:cNvSpPr/>
          <p:nvPr/>
        </p:nvSpPr>
        <p:spPr>
          <a:xfrm>
            <a:off x="457200" y="4846320"/>
            <a:ext cx="539496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Historical comparison between switches identifies diverging performance patterns before they cause service degradation.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6217920" y="274320"/>
            <a:ext cx="5669280" cy="3017520"/>
          </a:xfrm>
          <a:prstGeom prst="rect">
            <a:avLst/>
          </a:prstGeom>
          <a:solidFill>
            <a:srgbClr val="0F0D1F"/>
          </a:solidFill>
          <a:ln w="12700">
            <a:solidFill>
              <a:srgbClr val="1E1B3A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6492240" y="502920"/>
            <a:ext cx="5120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6B6889"/>
                </a:solidFill>
              </a:rPr>
              <a:t>PERFORMANCE INDICATORS</a:t>
            </a:r>
            <a:endParaRPr lang="en-US" sz="800" dirty="0"/>
          </a:p>
        </p:txBody>
      </p:sp>
      <p:sp>
        <p:nvSpPr>
          <p:cNvPr id="17" name="Text 15"/>
          <p:cNvSpPr/>
          <p:nvPr/>
        </p:nvSpPr>
        <p:spPr>
          <a:xfrm>
            <a:off x="6492240" y="960120"/>
            <a:ext cx="2011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6889"/>
                </a:solidFill>
              </a:rPr>
              <a:t>Ops Efficiency</a:t>
            </a:r>
            <a:endParaRPr lang="en-US" sz="1000" dirty="0"/>
          </a:p>
        </p:txBody>
      </p:sp>
      <p:sp>
        <p:nvSpPr>
          <p:cNvPr id="18" name="Shape 16"/>
          <p:cNvSpPr/>
          <p:nvPr/>
        </p:nvSpPr>
        <p:spPr>
          <a:xfrm>
            <a:off x="8595360" y="1014984"/>
            <a:ext cx="2560320" cy="146304"/>
          </a:xfrm>
          <a:prstGeom prst="rect">
            <a:avLst/>
          </a:prstGeom>
          <a:solidFill>
            <a:srgbClr val="1E1B3A"/>
          </a:solidFill>
          <a:ln/>
        </p:spPr>
      </p:sp>
      <p:sp>
        <p:nvSpPr>
          <p:cNvPr id="19" name="Shape 17"/>
          <p:cNvSpPr/>
          <p:nvPr/>
        </p:nvSpPr>
        <p:spPr>
          <a:xfrm>
            <a:off x="8595360" y="1014984"/>
            <a:ext cx="2227478" cy="146304"/>
          </a:xfrm>
          <a:prstGeom prst="rect">
            <a:avLst/>
          </a:prstGeom>
          <a:solidFill>
            <a:srgbClr val="F97316"/>
          </a:solidFill>
          <a:ln/>
        </p:spPr>
      </p:sp>
      <p:sp>
        <p:nvSpPr>
          <p:cNvPr id="20" name="Text 18"/>
          <p:cNvSpPr/>
          <p:nvPr/>
        </p:nvSpPr>
        <p:spPr>
          <a:xfrm>
            <a:off x="11247120" y="960120"/>
            <a:ext cx="914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F97316"/>
                </a:solidFill>
              </a:rPr>
              <a:t>87%</a:t>
            </a:r>
            <a:endParaRPr lang="en-US" sz="1100" dirty="0"/>
          </a:p>
        </p:txBody>
      </p:sp>
      <p:sp>
        <p:nvSpPr>
          <p:cNvPr id="21" name="Text 19"/>
          <p:cNvSpPr/>
          <p:nvPr/>
        </p:nvSpPr>
        <p:spPr>
          <a:xfrm>
            <a:off x="6492240" y="1618488"/>
            <a:ext cx="2011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6889"/>
                </a:solidFill>
              </a:rPr>
              <a:t>MTTR Reduction</a:t>
            </a:r>
            <a:endParaRPr lang="en-US" sz="1000" dirty="0"/>
          </a:p>
        </p:txBody>
      </p:sp>
      <p:sp>
        <p:nvSpPr>
          <p:cNvPr id="22" name="Shape 20"/>
          <p:cNvSpPr/>
          <p:nvPr/>
        </p:nvSpPr>
        <p:spPr>
          <a:xfrm>
            <a:off x="8595360" y="1673352"/>
            <a:ext cx="2560320" cy="146304"/>
          </a:xfrm>
          <a:prstGeom prst="rect">
            <a:avLst/>
          </a:prstGeom>
          <a:solidFill>
            <a:srgbClr val="1E1B3A"/>
          </a:solidFill>
          <a:ln/>
        </p:spPr>
      </p:sp>
      <p:sp>
        <p:nvSpPr>
          <p:cNvPr id="23" name="Shape 21"/>
          <p:cNvSpPr/>
          <p:nvPr/>
        </p:nvSpPr>
        <p:spPr>
          <a:xfrm>
            <a:off x="8595360" y="1673352"/>
            <a:ext cx="1894637" cy="146304"/>
          </a:xfrm>
          <a:prstGeom prst="rect">
            <a:avLst/>
          </a:prstGeom>
          <a:solidFill>
            <a:srgbClr val="EF4444"/>
          </a:solidFill>
          <a:ln/>
        </p:spPr>
      </p:sp>
      <p:sp>
        <p:nvSpPr>
          <p:cNvPr id="24" name="Text 22"/>
          <p:cNvSpPr/>
          <p:nvPr/>
        </p:nvSpPr>
        <p:spPr>
          <a:xfrm>
            <a:off x="11247120" y="1618488"/>
            <a:ext cx="914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EF4444"/>
                </a:solidFill>
              </a:rPr>
              <a:t>74%</a:t>
            </a:r>
            <a:endParaRPr lang="en-US" sz="1100" dirty="0"/>
          </a:p>
        </p:txBody>
      </p:sp>
      <p:sp>
        <p:nvSpPr>
          <p:cNvPr id="25" name="Text 23"/>
          <p:cNvSpPr/>
          <p:nvPr/>
        </p:nvSpPr>
        <p:spPr>
          <a:xfrm>
            <a:off x="6492240" y="2276856"/>
            <a:ext cx="2011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6889"/>
                </a:solidFill>
              </a:rPr>
              <a:t>Visibility</a:t>
            </a:r>
            <a:endParaRPr lang="en-US" sz="1000" dirty="0"/>
          </a:p>
        </p:txBody>
      </p:sp>
      <p:sp>
        <p:nvSpPr>
          <p:cNvPr id="26" name="Shape 24"/>
          <p:cNvSpPr/>
          <p:nvPr/>
        </p:nvSpPr>
        <p:spPr>
          <a:xfrm>
            <a:off x="8595360" y="2331720"/>
            <a:ext cx="2560320" cy="146304"/>
          </a:xfrm>
          <a:prstGeom prst="rect">
            <a:avLst/>
          </a:prstGeom>
          <a:solidFill>
            <a:srgbClr val="1E1B3A"/>
          </a:solidFill>
          <a:ln/>
        </p:spPr>
      </p:sp>
      <p:sp>
        <p:nvSpPr>
          <p:cNvPr id="27" name="Shape 25"/>
          <p:cNvSpPr/>
          <p:nvPr/>
        </p:nvSpPr>
        <p:spPr>
          <a:xfrm>
            <a:off x="8595360" y="2331720"/>
            <a:ext cx="2509114" cy="146304"/>
          </a:xfrm>
          <a:prstGeom prst="rect">
            <a:avLst/>
          </a:prstGeom>
          <a:solidFill>
            <a:srgbClr val="10B981"/>
          </a:solidFill>
          <a:ln/>
        </p:spPr>
      </p:sp>
      <p:sp>
        <p:nvSpPr>
          <p:cNvPr id="28" name="Text 26"/>
          <p:cNvSpPr/>
          <p:nvPr/>
        </p:nvSpPr>
        <p:spPr>
          <a:xfrm>
            <a:off x="11247120" y="2276856"/>
            <a:ext cx="914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10B981"/>
                </a:solidFill>
              </a:rPr>
              <a:t>98%</a:t>
            </a:r>
            <a:endParaRPr lang="en-US" sz="1100" dirty="0"/>
          </a:p>
        </p:txBody>
      </p:sp>
      <p:sp>
        <p:nvSpPr>
          <p:cNvPr id="29" name="Shape 27"/>
          <p:cNvSpPr/>
          <p:nvPr/>
        </p:nvSpPr>
        <p:spPr>
          <a:xfrm>
            <a:off x="6217920" y="3474720"/>
            <a:ext cx="5669280" cy="3063240"/>
          </a:xfrm>
          <a:prstGeom prst="rect">
            <a:avLst/>
          </a:prstGeom>
          <a:solidFill>
            <a:srgbClr val="F97316">
              <a:alpha val="6000"/>
            </a:srgbClr>
          </a:solidFill>
          <a:ln w="12700">
            <a:solidFill>
              <a:srgbClr val="F97316">
                <a:alpha val="30000"/>
              </a:srgbClr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6492240" y="3703320"/>
            <a:ext cx="512064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F97316"/>
                </a:solidFill>
              </a:rPr>
              <a:t>DECISION-MAKING IMPACT</a:t>
            </a:r>
            <a:endParaRPr lang="en-US" sz="800" dirty="0"/>
          </a:p>
        </p:txBody>
      </p:sp>
      <p:sp>
        <p:nvSpPr>
          <p:cNvPr id="31" name="Text 29"/>
          <p:cNvSpPr/>
          <p:nvPr/>
        </p:nvSpPr>
        <p:spPr>
          <a:xfrm>
            <a:off x="6492240" y="4069080"/>
            <a:ext cx="5120640" cy="2286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6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Carriers with geographic redundancy or backup switches currently operate multiple admin sessions. Consolidation into one view reduces NOC headcount requirements and is a strong enterprise selling point.</a:t>
            </a:r>
            <a:endParaRPr lang="en-US" sz="1100" dirty="0"/>
          </a:p>
        </p:txBody>
      </p:sp>
      <p:sp>
        <p:nvSpPr>
          <p:cNvPr id="32" name="Text 30"/>
          <p:cNvSpPr/>
          <p:nvPr/>
        </p:nvSpPr>
        <p:spPr>
          <a:xfrm>
            <a:off x="10789920" y="6492240"/>
            <a:ext cx="10972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889"/>
                </a:solidFill>
              </a:rPr>
              <a:t>06 / 11</a:t>
            </a:r>
            <a:endParaRPr lang="en-US" sz="9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5040F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54864" cy="6858000"/>
          </a:xfrm>
          <a:prstGeom prst="rect">
            <a:avLst/>
          </a:prstGeom>
          <a:solidFill>
            <a:srgbClr val="EC4899"/>
          </a:solidFill>
          <a:ln/>
        </p:spPr>
      </p:sp>
      <p:sp>
        <p:nvSpPr>
          <p:cNvPr id="4" name="Shape 2"/>
          <p:cNvSpPr/>
          <p:nvPr/>
        </p:nvSpPr>
        <p:spPr>
          <a:xfrm>
            <a:off x="54864" y="0"/>
            <a:ext cx="5888736" cy="6858000"/>
          </a:xfrm>
          <a:prstGeom prst="rect">
            <a:avLst/>
          </a:prstGeom>
          <a:solidFill>
            <a:srgbClr val="0F0D1F"/>
          </a:solidFill>
          <a:ln/>
        </p:spPr>
      </p:sp>
      <p:sp>
        <p:nvSpPr>
          <p:cNvPr id="5" name="Text 3"/>
          <p:cNvSpPr/>
          <p:nvPr/>
        </p:nvSpPr>
        <p:spPr>
          <a:xfrm>
            <a:off x="274320" y="91440"/>
            <a:ext cx="2286000" cy="1280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600" b="1" spc="-400" kern="0" dirty="0">
                <a:solidFill>
                  <a:srgbClr val="E2E0F0">
                    <a:alpha val="12000"/>
                  </a:srgbClr>
                </a:solidFill>
              </a:rPr>
              <a:t>07</a:t>
            </a:r>
            <a:endParaRPr lang="en-US" sz="9600" dirty="0"/>
          </a:p>
        </p:txBody>
      </p:sp>
      <p:sp>
        <p:nvSpPr>
          <p:cNvPr id="6" name="Text 4"/>
          <p:cNvSpPr/>
          <p:nvPr/>
        </p:nvSpPr>
        <p:spPr>
          <a:xfrm>
            <a:off x="274320" y="868680"/>
            <a:ext cx="54864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2600" b="1" dirty="0">
                <a:solidFill>
                  <a:srgbClr val="FFFFFF"/>
                </a:solidFill>
              </a:rPr>
              <a:t>Real-Time NOC Command View</a:t>
            </a:r>
            <a:endParaRPr lang="en-US" sz="2600" dirty="0"/>
          </a:p>
        </p:txBody>
      </p:sp>
      <p:sp>
        <p:nvSpPr>
          <p:cNvPr id="7" name="Text 5"/>
          <p:cNvSpPr/>
          <p:nvPr/>
        </p:nvSpPr>
        <p:spPr>
          <a:xfrm>
            <a:off x="274320" y="1783080"/>
            <a:ext cx="548640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6B6889"/>
                </a:solidFill>
              </a:rPr>
              <a:t>Cinematic operations center built for 24/7 environments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274320" y="2212848"/>
            <a:ext cx="5486400" cy="0"/>
          </a:xfrm>
          <a:prstGeom prst="line">
            <a:avLst/>
          </a:prstGeom>
          <a:noFill/>
          <a:ln w="19050">
            <a:solidFill>
              <a:srgbClr val="EC4899">
                <a:alpha val="40000"/>
              </a:srgbClr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274320" y="2432304"/>
            <a:ext cx="91440" cy="91440"/>
          </a:xfrm>
          <a:prstGeom prst="ellipse">
            <a:avLst/>
          </a:prstGeom>
          <a:solidFill>
            <a:srgbClr val="EC4899"/>
          </a:solidFill>
          <a:ln/>
        </p:spPr>
      </p:sp>
      <p:sp>
        <p:nvSpPr>
          <p:cNvPr id="10" name="Text 8"/>
          <p:cNvSpPr/>
          <p:nvPr/>
        </p:nvSpPr>
        <p:spPr>
          <a:xfrm>
            <a:off x="457200" y="2377440"/>
            <a:ext cx="539496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Full-screen, minimal-chrome display purpose-built for large NOC monitors — live call counters, MOS gauges, ASR trend lines, and active incident ticker all in one view.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274320" y="3666744"/>
            <a:ext cx="91440" cy="91440"/>
          </a:xfrm>
          <a:prstGeom prst="ellipse">
            <a:avLst/>
          </a:prstGeom>
          <a:solidFill>
            <a:srgbClr val="EC4899"/>
          </a:solidFill>
          <a:ln/>
        </p:spPr>
      </p:sp>
      <p:sp>
        <p:nvSpPr>
          <p:cNvPr id="12" name="Text 10"/>
          <p:cNvSpPr/>
          <p:nvPr/>
        </p:nvSpPr>
        <p:spPr>
          <a:xfrm>
            <a:off x="457200" y="3611880"/>
            <a:ext cx="539496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Dark-room optimised layout with high-contrast colours reduces operator eye strain during extended shifts while maintaining information density.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274320" y="4901184"/>
            <a:ext cx="91440" cy="91440"/>
          </a:xfrm>
          <a:prstGeom prst="ellipse">
            <a:avLst/>
          </a:prstGeom>
          <a:solidFill>
            <a:srgbClr val="EC4899"/>
          </a:solidFill>
          <a:ln/>
        </p:spPr>
      </p:sp>
      <p:sp>
        <p:nvSpPr>
          <p:cNvPr id="14" name="Text 12"/>
          <p:cNvSpPr/>
          <p:nvPr/>
        </p:nvSpPr>
        <p:spPr>
          <a:xfrm>
            <a:off x="457200" y="4846320"/>
            <a:ext cx="539496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WebSocket-powered updates mean the NOC view never requires a page refresh — data streams continuously without polling artifacts or missed events.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6217920" y="274320"/>
            <a:ext cx="5669280" cy="3017520"/>
          </a:xfrm>
          <a:prstGeom prst="rect">
            <a:avLst/>
          </a:prstGeom>
          <a:solidFill>
            <a:srgbClr val="0F0D1F"/>
          </a:solidFill>
          <a:ln w="12700">
            <a:solidFill>
              <a:srgbClr val="1E1B3A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6492240" y="502920"/>
            <a:ext cx="5120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6B6889"/>
                </a:solidFill>
              </a:rPr>
              <a:t>PERFORMANCE INDICATORS</a:t>
            </a:r>
            <a:endParaRPr lang="en-US" sz="800" dirty="0"/>
          </a:p>
        </p:txBody>
      </p:sp>
      <p:sp>
        <p:nvSpPr>
          <p:cNvPr id="17" name="Text 15"/>
          <p:cNvSpPr/>
          <p:nvPr/>
        </p:nvSpPr>
        <p:spPr>
          <a:xfrm>
            <a:off x="6492240" y="960120"/>
            <a:ext cx="2011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6889"/>
                </a:solidFill>
              </a:rPr>
              <a:t>Operator Reaction</a:t>
            </a:r>
            <a:endParaRPr lang="en-US" sz="1000" dirty="0"/>
          </a:p>
        </p:txBody>
      </p:sp>
      <p:sp>
        <p:nvSpPr>
          <p:cNvPr id="18" name="Shape 16"/>
          <p:cNvSpPr/>
          <p:nvPr/>
        </p:nvSpPr>
        <p:spPr>
          <a:xfrm>
            <a:off x="8595360" y="1014984"/>
            <a:ext cx="2560320" cy="146304"/>
          </a:xfrm>
          <a:prstGeom prst="rect">
            <a:avLst/>
          </a:prstGeom>
          <a:solidFill>
            <a:srgbClr val="1E1B3A"/>
          </a:solidFill>
          <a:ln/>
        </p:spPr>
      </p:sp>
      <p:sp>
        <p:nvSpPr>
          <p:cNvPr id="19" name="Shape 17"/>
          <p:cNvSpPr/>
          <p:nvPr/>
        </p:nvSpPr>
        <p:spPr>
          <a:xfrm>
            <a:off x="8595360" y="1014984"/>
            <a:ext cx="2329891" cy="146304"/>
          </a:xfrm>
          <a:prstGeom prst="rect">
            <a:avLst/>
          </a:prstGeom>
          <a:solidFill>
            <a:srgbClr val="EC4899"/>
          </a:solidFill>
          <a:ln/>
        </p:spPr>
      </p:sp>
      <p:sp>
        <p:nvSpPr>
          <p:cNvPr id="20" name="Text 18"/>
          <p:cNvSpPr/>
          <p:nvPr/>
        </p:nvSpPr>
        <p:spPr>
          <a:xfrm>
            <a:off x="11247120" y="960120"/>
            <a:ext cx="914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EC4899"/>
                </a:solidFill>
              </a:rPr>
              <a:t>91%</a:t>
            </a:r>
            <a:endParaRPr lang="en-US" sz="1100" dirty="0"/>
          </a:p>
        </p:txBody>
      </p:sp>
      <p:sp>
        <p:nvSpPr>
          <p:cNvPr id="21" name="Text 19"/>
          <p:cNvSpPr/>
          <p:nvPr/>
        </p:nvSpPr>
        <p:spPr>
          <a:xfrm>
            <a:off x="6492240" y="1618488"/>
            <a:ext cx="2011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6889"/>
                </a:solidFill>
              </a:rPr>
              <a:t>Incident Detection</a:t>
            </a:r>
            <a:endParaRPr lang="en-US" sz="1000" dirty="0"/>
          </a:p>
        </p:txBody>
      </p:sp>
      <p:sp>
        <p:nvSpPr>
          <p:cNvPr id="22" name="Shape 20"/>
          <p:cNvSpPr/>
          <p:nvPr/>
        </p:nvSpPr>
        <p:spPr>
          <a:xfrm>
            <a:off x="8595360" y="1673352"/>
            <a:ext cx="2560320" cy="146304"/>
          </a:xfrm>
          <a:prstGeom prst="rect">
            <a:avLst/>
          </a:prstGeom>
          <a:solidFill>
            <a:srgbClr val="1E1B3A"/>
          </a:solidFill>
          <a:ln/>
        </p:spPr>
      </p:sp>
      <p:sp>
        <p:nvSpPr>
          <p:cNvPr id="23" name="Shape 21"/>
          <p:cNvSpPr/>
          <p:nvPr/>
        </p:nvSpPr>
        <p:spPr>
          <a:xfrm>
            <a:off x="8595360" y="1673352"/>
            <a:ext cx="2457907" cy="146304"/>
          </a:xfrm>
          <a:prstGeom prst="rect">
            <a:avLst/>
          </a:prstGeom>
          <a:solidFill>
            <a:srgbClr val="EF4444"/>
          </a:solidFill>
          <a:ln/>
        </p:spPr>
      </p:sp>
      <p:sp>
        <p:nvSpPr>
          <p:cNvPr id="24" name="Text 22"/>
          <p:cNvSpPr/>
          <p:nvPr/>
        </p:nvSpPr>
        <p:spPr>
          <a:xfrm>
            <a:off x="11247120" y="1618488"/>
            <a:ext cx="914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EF4444"/>
                </a:solidFill>
              </a:rPr>
              <a:t>96%</a:t>
            </a:r>
            <a:endParaRPr lang="en-US" sz="1100" dirty="0"/>
          </a:p>
        </p:txBody>
      </p:sp>
      <p:sp>
        <p:nvSpPr>
          <p:cNvPr id="25" name="Text 23"/>
          <p:cNvSpPr/>
          <p:nvPr/>
        </p:nvSpPr>
        <p:spPr>
          <a:xfrm>
            <a:off x="6492240" y="2276856"/>
            <a:ext cx="2011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6889"/>
                </a:solidFill>
              </a:rPr>
              <a:t>Uptime Confidence</a:t>
            </a:r>
            <a:endParaRPr lang="en-US" sz="1000" dirty="0"/>
          </a:p>
        </p:txBody>
      </p:sp>
      <p:sp>
        <p:nvSpPr>
          <p:cNvPr id="26" name="Shape 24"/>
          <p:cNvSpPr/>
          <p:nvPr/>
        </p:nvSpPr>
        <p:spPr>
          <a:xfrm>
            <a:off x="8595360" y="2331720"/>
            <a:ext cx="2560320" cy="146304"/>
          </a:xfrm>
          <a:prstGeom prst="rect">
            <a:avLst/>
          </a:prstGeom>
          <a:solidFill>
            <a:srgbClr val="1E1B3A"/>
          </a:solidFill>
          <a:ln/>
        </p:spPr>
      </p:sp>
      <p:sp>
        <p:nvSpPr>
          <p:cNvPr id="27" name="Shape 25"/>
          <p:cNvSpPr/>
          <p:nvPr/>
        </p:nvSpPr>
        <p:spPr>
          <a:xfrm>
            <a:off x="8595360" y="2331720"/>
            <a:ext cx="2534717" cy="146304"/>
          </a:xfrm>
          <a:prstGeom prst="rect">
            <a:avLst/>
          </a:prstGeom>
          <a:solidFill>
            <a:srgbClr val="10B981"/>
          </a:solidFill>
          <a:ln/>
        </p:spPr>
      </p:sp>
      <p:sp>
        <p:nvSpPr>
          <p:cNvPr id="28" name="Text 26"/>
          <p:cNvSpPr/>
          <p:nvPr/>
        </p:nvSpPr>
        <p:spPr>
          <a:xfrm>
            <a:off x="11247120" y="2276856"/>
            <a:ext cx="914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10B981"/>
                </a:solidFill>
              </a:rPr>
              <a:t>99%</a:t>
            </a:r>
            <a:endParaRPr lang="en-US" sz="1100" dirty="0"/>
          </a:p>
        </p:txBody>
      </p:sp>
      <p:sp>
        <p:nvSpPr>
          <p:cNvPr id="29" name="Shape 27"/>
          <p:cNvSpPr/>
          <p:nvPr/>
        </p:nvSpPr>
        <p:spPr>
          <a:xfrm>
            <a:off x="6217920" y="3474720"/>
            <a:ext cx="5669280" cy="3063240"/>
          </a:xfrm>
          <a:prstGeom prst="rect">
            <a:avLst/>
          </a:prstGeom>
          <a:solidFill>
            <a:srgbClr val="EC4899">
              <a:alpha val="6000"/>
            </a:srgbClr>
          </a:solidFill>
          <a:ln w="12700">
            <a:solidFill>
              <a:srgbClr val="EC4899">
                <a:alpha val="30000"/>
              </a:srgbClr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6492240" y="3703320"/>
            <a:ext cx="512064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EC4899"/>
                </a:solidFill>
              </a:rPr>
              <a:t>DECISION-MAKING IMPACT</a:t>
            </a:r>
            <a:endParaRPr lang="en-US" sz="800" dirty="0"/>
          </a:p>
        </p:txBody>
      </p:sp>
      <p:sp>
        <p:nvSpPr>
          <p:cNvPr id="31" name="Text 29"/>
          <p:cNvSpPr/>
          <p:nvPr/>
        </p:nvSpPr>
        <p:spPr>
          <a:xfrm>
            <a:off x="6492240" y="4069080"/>
            <a:ext cx="5120640" cy="2286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6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In a sales demonstration, the NOC view is the single most visually impressive feature. Buyers with physical NOC rooms respond immediately — it signals that the platform was purpose-built for serious carrier operations.</a:t>
            </a:r>
            <a:endParaRPr lang="en-US" sz="1100" dirty="0"/>
          </a:p>
        </p:txBody>
      </p:sp>
      <p:sp>
        <p:nvSpPr>
          <p:cNvPr id="32" name="Text 30"/>
          <p:cNvSpPr/>
          <p:nvPr/>
        </p:nvSpPr>
        <p:spPr>
          <a:xfrm>
            <a:off x="10789920" y="6492240"/>
            <a:ext cx="10972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889"/>
                </a:solidFill>
              </a:rPr>
              <a:t>07 / 11</a:t>
            </a:r>
            <a:endParaRPr lang="en-US" sz="9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5040F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54864" cy="6858000"/>
          </a:xfrm>
          <a:prstGeom prst="rect">
            <a:avLst/>
          </a:prstGeom>
          <a:solidFill>
            <a:srgbClr val="14B8A6"/>
          </a:solidFill>
          <a:ln/>
        </p:spPr>
      </p:sp>
      <p:sp>
        <p:nvSpPr>
          <p:cNvPr id="4" name="Shape 2"/>
          <p:cNvSpPr/>
          <p:nvPr/>
        </p:nvSpPr>
        <p:spPr>
          <a:xfrm>
            <a:off x="54864" y="0"/>
            <a:ext cx="5888736" cy="6858000"/>
          </a:xfrm>
          <a:prstGeom prst="rect">
            <a:avLst/>
          </a:prstGeom>
          <a:solidFill>
            <a:srgbClr val="0F0D1F"/>
          </a:solidFill>
          <a:ln/>
        </p:spPr>
      </p:sp>
      <p:sp>
        <p:nvSpPr>
          <p:cNvPr id="5" name="Text 3"/>
          <p:cNvSpPr/>
          <p:nvPr/>
        </p:nvSpPr>
        <p:spPr>
          <a:xfrm>
            <a:off x="274320" y="91440"/>
            <a:ext cx="2286000" cy="1280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600" b="1" spc="-400" kern="0" dirty="0">
                <a:solidFill>
                  <a:srgbClr val="E2E0F0">
                    <a:alpha val="12000"/>
                  </a:srgbClr>
                </a:solidFill>
              </a:rPr>
              <a:t>08</a:t>
            </a:r>
            <a:endParaRPr lang="en-US" sz="9600" dirty="0"/>
          </a:p>
        </p:txBody>
      </p:sp>
      <p:sp>
        <p:nvSpPr>
          <p:cNvPr id="6" name="Text 4"/>
          <p:cNvSpPr/>
          <p:nvPr/>
        </p:nvSpPr>
        <p:spPr>
          <a:xfrm>
            <a:off x="274320" y="868680"/>
            <a:ext cx="54864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2600" b="1" dirty="0">
                <a:solidFill>
                  <a:srgbClr val="FFFFFF"/>
                </a:solidFill>
              </a:rPr>
              <a:t>GDPR Compliance Engine</a:t>
            </a:r>
            <a:endParaRPr lang="en-US" sz="2600" dirty="0"/>
          </a:p>
        </p:txBody>
      </p:sp>
      <p:sp>
        <p:nvSpPr>
          <p:cNvPr id="7" name="Text 5"/>
          <p:cNvSpPr/>
          <p:nvPr/>
        </p:nvSpPr>
        <p:spPr>
          <a:xfrm>
            <a:off x="274320" y="1783080"/>
            <a:ext cx="548640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6B6889"/>
                </a:solidFill>
              </a:rPr>
              <a:t>Automated data retention, deletion tracking, and audit log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274320" y="2212848"/>
            <a:ext cx="5486400" cy="0"/>
          </a:xfrm>
          <a:prstGeom prst="line">
            <a:avLst/>
          </a:prstGeom>
          <a:noFill/>
          <a:ln w="19050">
            <a:solidFill>
              <a:srgbClr val="14B8A6">
                <a:alpha val="40000"/>
              </a:srgbClr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274320" y="2432304"/>
            <a:ext cx="91440" cy="91440"/>
          </a:xfrm>
          <a:prstGeom prst="ellipse">
            <a:avLst/>
          </a:prstGeom>
          <a:solidFill>
            <a:srgbClr val="14B8A6"/>
          </a:solidFill>
          <a:ln/>
        </p:spPr>
      </p:sp>
      <p:sp>
        <p:nvSpPr>
          <p:cNvPr id="10" name="Text 8"/>
          <p:cNvSpPr/>
          <p:nvPr/>
        </p:nvSpPr>
        <p:spPr>
          <a:xfrm>
            <a:off x="457200" y="2377440"/>
            <a:ext cx="539496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Configurable retention policies per data type (CDRs, alerts, fraud events, call metrics) run as an hourly background job, automatically purging data beyond the retention window.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274320" y="3666744"/>
            <a:ext cx="91440" cy="91440"/>
          </a:xfrm>
          <a:prstGeom prst="ellipse">
            <a:avLst/>
          </a:prstGeom>
          <a:solidFill>
            <a:srgbClr val="14B8A6"/>
          </a:solidFill>
          <a:ln/>
        </p:spPr>
      </p:sp>
      <p:sp>
        <p:nvSpPr>
          <p:cNvPr id="12" name="Text 10"/>
          <p:cNvSpPr/>
          <p:nvPr/>
        </p:nvSpPr>
        <p:spPr>
          <a:xfrm>
            <a:off x="457200" y="3611880"/>
            <a:ext cx="539496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Deletion requests are tracked, processed, and logged with full audit trail — the Compliance Dashboard shows live deletion counts, policy coverage, and outstanding requests.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274320" y="4901184"/>
            <a:ext cx="91440" cy="91440"/>
          </a:xfrm>
          <a:prstGeom prst="ellipse">
            <a:avLst/>
          </a:prstGeom>
          <a:solidFill>
            <a:srgbClr val="14B8A6"/>
          </a:solidFill>
          <a:ln/>
        </p:spPr>
      </p:sp>
      <p:sp>
        <p:nvSpPr>
          <p:cNvPr id="14" name="Text 12"/>
          <p:cNvSpPr/>
          <p:nvPr/>
        </p:nvSpPr>
        <p:spPr>
          <a:xfrm>
            <a:off x="457200" y="4846320"/>
            <a:ext cx="539496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Recording server HTTPS status, blacklist coverage, and retention compliance are aggregated into a single compliance score visible to management.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6217920" y="274320"/>
            <a:ext cx="5669280" cy="3017520"/>
          </a:xfrm>
          <a:prstGeom prst="rect">
            <a:avLst/>
          </a:prstGeom>
          <a:solidFill>
            <a:srgbClr val="0F0D1F"/>
          </a:solidFill>
          <a:ln w="12700">
            <a:solidFill>
              <a:srgbClr val="1E1B3A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6492240" y="502920"/>
            <a:ext cx="5120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6B6889"/>
                </a:solidFill>
              </a:rPr>
              <a:t>PERFORMANCE INDICATORS</a:t>
            </a:r>
            <a:endParaRPr lang="en-US" sz="800" dirty="0"/>
          </a:p>
        </p:txBody>
      </p:sp>
      <p:sp>
        <p:nvSpPr>
          <p:cNvPr id="17" name="Text 15"/>
          <p:cNvSpPr/>
          <p:nvPr/>
        </p:nvSpPr>
        <p:spPr>
          <a:xfrm>
            <a:off x="6492240" y="960120"/>
            <a:ext cx="2011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6889"/>
                </a:solidFill>
              </a:rPr>
              <a:t>Policy Coverage</a:t>
            </a:r>
            <a:endParaRPr lang="en-US" sz="1000" dirty="0"/>
          </a:p>
        </p:txBody>
      </p:sp>
      <p:sp>
        <p:nvSpPr>
          <p:cNvPr id="18" name="Shape 16"/>
          <p:cNvSpPr/>
          <p:nvPr/>
        </p:nvSpPr>
        <p:spPr>
          <a:xfrm>
            <a:off x="8595360" y="1014984"/>
            <a:ext cx="2560320" cy="146304"/>
          </a:xfrm>
          <a:prstGeom prst="rect">
            <a:avLst/>
          </a:prstGeom>
          <a:solidFill>
            <a:srgbClr val="1E1B3A"/>
          </a:solidFill>
          <a:ln/>
        </p:spPr>
      </p:sp>
      <p:sp>
        <p:nvSpPr>
          <p:cNvPr id="19" name="Shape 17"/>
          <p:cNvSpPr/>
          <p:nvPr/>
        </p:nvSpPr>
        <p:spPr>
          <a:xfrm>
            <a:off x="8595360" y="1014984"/>
            <a:ext cx="2560320" cy="146304"/>
          </a:xfrm>
          <a:prstGeom prst="rect">
            <a:avLst/>
          </a:prstGeom>
          <a:solidFill>
            <a:srgbClr val="14B8A6"/>
          </a:solidFill>
          <a:ln/>
        </p:spPr>
      </p:sp>
      <p:sp>
        <p:nvSpPr>
          <p:cNvPr id="20" name="Text 18"/>
          <p:cNvSpPr/>
          <p:nvPr/>
        </p:nvSpPr>
        <p:spPr>
          <a:xfrm>
            <a:off x="11247120" y="960120"/>
            <a:ext cx="914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14B8A6"/>
                </a:solidFill>
              </a:rPr>
              <a:t>100%</a:t>
            </a:r>
            <a:endParaRPr lang="en-US" sz="1100" dirty="0"/>
          </a:p>
        </p:txBody>
      </p:sp>
      <p:sp>
        <p:nvSpPr>
          <p:cNvPr id="21" name="Text 19"/>
          <p:cNvSpPr/>
          <p:nvPr/>
        </p:nvSpPr>
        <p:spPr>
          <a:xfrm>
            <a:off x="6492240" y="1618488"/>
            <a:ext cx="2011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6889"/>
                </a:solidFill>
              </a:rPr>
              <a:t>Audit Completeness</a:t>
            </a:r>
            <a:endParaRPr lang="en-US" sz="1000" dirty="0"/>
          </a:p>
        </p:txBody>
      </p:sp>
      <p:sp>
        <p:nvSpPr>
          <p:cNvPr id="22" name="Shape 20"/>
          <p:cNvSpPr/>
          <p:nvPr/>
        </p:nvSpPr>
        <p:spPr>
          <a:xfrm>
            <a:off x="8595360" y="1673352"/>
            <a:ext cx="2560320" cy="146304"/>
          </a:xfrm>
          <a:prstGeom prst="rect">
            <a:avLst/>
          </a:prstGeom>
          <a:solidFill>
            <a:srgbClr val="1E1B3A"/>
          </a:solidFill>
          <a:ln/>
        </p:spPr>
      </p:sp>
      <p:sp>
        <p:nvSpPr>
          <p:cNvPr id="23" name="Shape 21"/>
          <p:cNvSpPr/>
          <p:nvPr/>
        </p:nvSpPr>
        <p:spPr>
          <a:xfrm>
            <a:off x="8595360" y="1673352"/>
            <a:ext cx="2509114" cy="146304"/>
          </a:xfrm>
          <a:prstGeom prst="rect">
            <a:avLst/>
          </a:prstGeom>
          <a:solidFill>
            <a:srgbClr val="10B981"/>
          </a:solidFill>
          <a:ln/>
        </p:spPr>
      </p:sp>
      <p:sp>
        <p:nvSpPr>
          <p:cNvPr id="24" name="Text 22"/>
          <p:cNvSpPr/>
          <p:nvPr/>
        </p:nvSpPr>
        <p:spPr>
          <a:xfrm>
            <a:off x="11247120" y="1618488"/>
            <a:ext cx="914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10B981"/>
                </a:solidFill>
              </a:rPr>
              <a:t>98%</a:t>
            </a:r>
            <a:endParaRPr lang="en-US" sz="1100" dirty="0"/>
          </a:p>
        </p:txBody>
      </p:sp>
      <p:sp>
        <p:nvSpPr>
          <p:cNvPr id="25" name="Text 23"/>
          <p:cNvSpPr/>
          <p:nvPr/>
        </p:nvSpPr>
        <p:spPr>
          <a:xfrm>
            <a:off x="6492240" y="2276856"/>
            <a:ext cx="2011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6889"/>
                </a:solidFill>
              </a:rPr>
              <a:t>Legal Risk Reduction</a:t>
            </a:r>
            <a:endParaRPr lang="en-US" sz="1000" dirty="0"/>
          </a:p>
        </p:txBody>
      </p:sp>
      <p:sp>
        <p:nvSpPr>
          <p:cNvPr id="26" name="Shape 24"/>
          <p:cNvSpPr/>
          <p:nvPr/>
        </p:nvSpPr>
        <p:spPr>
          <a:xfrm>
            <a:off x="8595360" y="2331720"/>
            <a:ext cx="2560320" cy="146304"/>
          </a:xfrm>
          <a:prstGeom prst="rect">
            <a:avLst/>
          </a:prstGeom>
          <a:solidFill>
            <a:srgbClr val="1E1B3A"/>
          </a:solidFill>
          <a:ln/>
        </p:spPr>
      </p:sp>
      <p:sp>
        <p:nvSpPr>
          <p:cNvPr id="27" name="Shape 25"/>
          <p:cNvSpPr/>
          <p:nvPr/>
        </p:nvSpPr>
        <p:spPr>
          <a:xfrm>
            <a:off x="8595360" y="2331720"/>
            <a:ext cx="2278685" cy="146304"/>
          </a:xfrm>
          <a:prstGeom prst="rect">
            <a:avLst/>
          </a:prstGeom>
          <a:solidFill>
            <a:srgbClr val="8B5CF6"/>
          </a:solidFill>
          <a:ln/>
        </p:spPr>
      </p:sp>
      <p:sp>
        <p:nvSpPr>
          <p:cNvPr id="28" name="Text 26"/>
          <p:cNvSpPr/>
          <p:nvPr/>
        </p:nvSpPr>
        <p:spPr>
          <a:xfrm>
            <a:off x="11247120" y="2276856"/>
            <a:ext cx="914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8B5CF6"/>
                </a:solidFill>
              </a:rPr>
              <a:t>89%</a:t>
            </a:r>
            <a:endParaRPr lang="en-US" sz="1100" dirty="0"/>
          </a:p>
        </p:txBody>
      </p:sp>
      <p:sp>
        <p:nvSpPr>
          <p:cNvPr id="29" name="Shape 27"/>
          <p:cNvSpPr/>
          <p:nvPr/>
        </p:nvSpPr>
        <p:spPr>
          <a:xfrm>
            <a:off x="6217920" y="3474720"/>
            <a:ext cx="5669280" cy="3063240"/>
          </a:xfrm>
          <a:prstGeom prst="rect">
            <a:avLst/>
          </a:prstGeom>
          <a:solidFill>
            <a:srgbClr val="14B8A6">
              <a:alpha val="6000"/>
            </a:srgbClr>
          </a:solidFill>
          <a:ln w="12700">
            <a:solidFill>
              <a:srgbClr val="14B8A6">
                <a:alpha val="30000"/>
              </a:srgbClr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6492240" y="3703320"/>
            <a:ext cx="512064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14B8A6"/>
                </a:solidFill>
              </a:rPr>
              <a:t>DECISION-MAKING IMPACT</a:t>
            </a:r>
            <a:endParaRPr lang="en-US" sz="800" dirty="0"/>
          </a:p>
        </p:txBody>
      </p:sp>
      <p:sp>
        <p:nvSpPr>
          <p:cNvPr id="31" name="Text 29"/>
          <p:cNvSpPr/>
          <p:nvPr/>
        </p:nvSpPr>
        <p:spPr>
          <a:xfrm>
            <a:off x="6492240" y="4069080"/>
            <a:ext cx="5120640" cy="2286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6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Data protection compliance is a legal requirement in every major market. This removes the need for a separate compliance tool and reduces legal exposure — making it easy to justify the platform cost to a legal or compliance committee.</a:t>
            </a:r>
            <a:endParaRPr lang="en-US" sz="1100" dirty="0"/>
          </a:p>
        </p:txBody>
      </p:sp>
      <p:sp>
        <p:nvSpPr>
          <p:cNvPr id="32" name="Text 30"/>
          <p:cNvSpPr/>
          <p:nvPr/>
        </p:nvSpPr>
        <p:spPr>
          <a:xfrm>
            <a:off x="10789920" y="6492240"/>
            <a:ext cx="10972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889"/>
                </a:solidFill>
              </a:rPr>
              <a:t>08 / 11</a:t>
            </a:r>
            <a:endParaRPr lang="en-US" sz="9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5040F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54864" cy="6858000"/>
          </a:xfrm>
          <a:prstGeom prst="rect">
            <a:avLst/>
          </a:prstGeom>
          <a:solidFill>
            <a:srgbClr val="A855F7"/>
          </a:solidFill>
          <a:ln/>
        </p:spPr>
      </p:sp>
      <p:sp>
        <p:nvSpPr>
          <p:cNvPr id="4" name="Shape 2"/>
          <p:cNvSpPr/>
          <p:nvPr/>
        </p:nvSpPr>
        <p:spPr>
          <a:xfrm>
            <a:off x="54864" y="0"/>
            <a:ext cx="5888736" cy="6858000"/>
          </a:xfrm>
          <a:prstGeom prst="rect">
            <a:avLst/>
          </a:prstGeom>
          <a:solidFill>
            <a:srgbClr val="0F0D1F"/>
          </a:solidFill>
          <a:ln/>
        </p:spPr>
      </p:sp>
      <p:sp>
        <p:nvSpPr>
          <p:cNvPr id="5" name="Text 3"/>
          <p:cNvSpPr/>
          <p:nvPr/>
        </p:nvSpPr>
        <p:spPr>
          <a:xfrm>
            <a:off x="274320" y="91440"/>
            <a:ext cx="2286000" cy="1280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600" b="1" spc="-400" kern="0" dirty="0">
                <a:solidFill>
                  <a:srgbClr val="E2E0F0">
                    <a:alpha val="12000"/>
                  </a:srgbClr>
                </a:solidFill>
              </a:rPr>
              <a:t>09</a:t>
            </a:r>
            <a:endParaRPr lang="en-US" sz="9600" dirty="0"/>
          </a:p>
        </p:txBody>
      </p:sp>
      <p:sp>
        <p:nvSpPr>
          <p:cNvPr id="6" name="Text 4"/>
          <p:cNvSpPr/>
          <p:nvPr/>
        </p:nvSpPr>
        <p:spPr>
          <a:xfrm>
            <a:off x="274320" y="868680"/>
            <a:ext cx="54864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2600" b="1" dirty="0">
                <a:solidFill>
                  <a:srgbClr val="FFFFFF"/>
                </a:solidFill>
              </a:rPr>
              <a:t>Role-Based Access Control</a:t>
            </a:r>
            <a:endParaRPr lang="en-US" sz="2600" dirty="0"/>
          </a:p>
        </p:txBody>
      </p:sp>
      <p:sp>
        <p:nvSpPr>
          <p:cNvPr id="7" name="Text 5"/>
          <p:cNvSpPr/>
          <p:nvPr/>
        </p:nvSpPr>
        <p:spPr>
          <a:xfrm>
            <a:off x="274320" y="1783080"/>
            <a:ext cx="548640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6B6889"/>
                </a:solidFill>
              </a:rPr>
              <a:t>Granular 44-feature permissions with per-user toggle control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274320" y="2212848"/>
            <a:ext cx="5486400" cy="0"/>
          </a:xfrm>
          <a:prstGeom prst="line">
            <a:avLst/>
          </a:prstGeom>
          <a:noFill/>
          <a:ln w="19050">
            <a:solidFill>
              <a:srgbClr val="A855F7">
                <a:alpha val="40000"/>
              </a:srgbClr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274320" y="2432304"/>
            <a:ext cx="91440" cy="91440"/>
          </a:xfrm>
          <a:prstGeom prst="ellipse">
            <a:avLst/>
          </a:prstGeom>
          <a:solidFill>
            <a:srgbClr val="A855F7"/>
          </a:solidFill>
          <a:ln/>
        </p:spPr>
      </p:sp>
      <p:sp>
        <p:nvSpPr>
          <p:cNvPr id="10" name="Text 8"/>
          <p:cNvSpPr/>
          <p:nvPr/>
        </p:nvSpPr>
        <p:spPr>
          <a:xfrm>
            <a:off x="457200" y="2377440"/>
            <a:ext cx="539496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Three-tier role system (Admin / Management / Viewer) where Admins configure exactly which of 44 platform features each Management user can access — per person, not per role.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274320" y="3666744"/>
            <a:ext cx="91440" cy="91440"/>
          </a:xfrm>
          <a:prstGeom prst="ellipse">
            <a:avLst/>
          </a:prstGeom>
          <a:solidFill>
            <a:srgbClr val="A855F7"/>
          </a:solidFill>
          <a:ln/>
        </p:spPr>
      </p:sp>
      <p:sp>
        <p:nvSpPr>
          <p:cNvPr id="12" name="Text 10"/>
          <p:cNvSpPr/>
          <p:nvPr/>
        </p:nvSpPr>
        <p:spPr>
          <a:xfrm>
            <a:off x="457200" y="3611880"/>
            <a:ext cx="539496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Monitoring assignments give Viewer-role users scoped access to specific accounts and data areas without exposing the full platform.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274320" y="4901184"/>
            <a:ext cx="91440" cy="91440"/>
          </a:xfrm>
          <a:prstGeom prst="ellipse">
            <a:avLst/>
          </a:prstGeom>
          <a:solidFill>
            <a:srgbClr val="A855F7"/>
          </a:solidFill>
          <a:ln/>
        </p:spPr>
      </p:sp>
      <p:sp>
        <p:nvSpPr>
          <p:cNvPr id="14" name="Text 12"/>
          <p:cNvSpPr/>
          <p:nvPr/>
        </p:nvSpPr>
        <p:spPr>
          <a:xfrm>
            <a:off x="457200" y="4846320"/>
            <a:ext cx="539496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All permission decisions are enforced server-side at the API layer — the UI respects permissions but the backend enforces them independently.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6217920" y="274320"/>
            <a:ext cx="5669280" cy="3017520"/>
          </a:xfrm>
          <a:prstGeom prst="rect">
            <a:avLst/>
          </a:prstGeom>
          <a:solidFill>
            <a:srgbClr val="0F0D1F"/>
          </a:solidFill>
          <a:ln w="12700">
            <a:solidFill>
              <a:srgbClr val="1E1B3A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6492240" y="502920"/>
            <a:ext cx="5120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6B6889"/>
                </a:solidFill>
              </a:rPr>
              <a:t>PERFORMANCE INDICATORS</a:t>
            </a:r>
            <a:endParaRPr lang="en-US" sz="800" dirty="0"/>
          </a:p>
        </p:txBody>
      </p:sp>
      <p:sp>
        <p:nvSpPr>
          <p:cNvPr id="17" name="Text 15"/>
          <p:cNvSpPr/>
          <p:nvPr/>
        </p:nvSpPr>
        <p:spPr>
          <a:xfrm>
            <a:off x="6492240" y="960120"/>
            <a:ext cx="2011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6889"/>
                </a:solidFill>
              </a:rPr>
              <a:t>Feature Granularity</a:t>
            </a:r>
            <a:endParaRPr lang="en-US" sz="1000" dirty="0"/>
          </a:p>
        </p:txBody>
      </p:sp>
      <p:sp>
        <p:nvSpPr>
          <p:cNvPr id="18" name="Shape 16"/>
          <p:cNvSpPr/>
          <p:nvPr/>
        </p:nvSpPr>
        <p:spPr>
          <a:xfrm>
            <a:off x="8595360" y="1014984"/>
            <a:ext cx="2560320" cy="146304"/>
          </a:xfrm>
          <a:prstGeom prst="rect">
            <a:avLst/>
          </a:prstGeom>
          <a:solidFill>
            <a:srgbClr val="1E1B3A"/>
          </a:solidFill>
          <a:ln/>
        </p:spPr>
      </p:sp>
      <p:sp>
        <p:nvSpPr>
          <p:cNvPr id="19" name="Shape 17"/>
          <p:cNvSpPr/>
          <p:nvPr/>
        </p:nvSpPr>
        <p:spPr>
          <a:xfrm>
            <a:off x="8595360" y="1014984"/>
            <a:ext cx="2253082" cy="146304"/>
          </a:xfrm>
          <a:prstGeom prst="rect">
            <a:avLst/>
          </a:prstGeom>
          <a:solidFill>
            <a:srgbClr val="A855F7"/>
          </a:solidFill>
          <a:ln/>
        </p:spPr>
      </p:sp>
      <p:sp>
        <p:nvSpPr>
          <p:cNvPr id="20" name="Text 18"/>
          <p:cNvSpPr/>
          <p:nvPr/>
        </p:nvSpPr>
        <p:spPr>
          <a:xfrm>
            <a:off x="11247120" y="960120"/>
            <a:ext cx="914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A855F7"/>
                </a:solidFill>
              </a:rPr>
              <a:t>44 features</a:t>
            </a:r>
            <a:endParaRPr lang="en-US" sz="1100" dirty="0"/>
          </a:p>
        </p:txBody>
      </p:sp>
      <p:sp>
        <p:nvSpPr>
          <p:cNvPr id="21" name="Text 19"/>
          <p:cNvSpPr/>
          <p:nvPr/>
        </p:nvSpPr>
        <p:spPr>
          <a:xfrm>
            <a:off x="6492240" y="1618488"/>
            <a:ext cx="2011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6889"/>
                </a:solidFill>
              </a:rPr>
              <a:t>Server Enforcement</a:t>
            </a:r>
            <a:endParaRPr lang="en-US" sz="1000" dirty="0"/>
          </a:p>
        </p:txBody>
      </p:sp>
      <p:sp>
        <p:nvSpPr>
          <p:cNvPr id="22" name="Shape 20"/>
          <p:cNvSpPr/>
          <p:nvPr/>
        </p:nvSpPr>
        <p:spPr>
          <a:xfrm>
            <a:off x="8595360" y="1673352"/>
            <a:ext cx="2560320" cy="146304"/>
          </a:xfrm>
          <a:prstGeom prst="rect">
            <a:avLst/>
          </a:prstGeom>
          <a:solidFill>
            <a:srgbClr val="1E1B3A"/>
          </a:solidFill>
          <a:ln/>
        </p:spPr>
      </p:sp>
      <p:sp>
        <p:nvSpPr>
          <p:cNvPr id="23" name="Shape 21"/>
          <p:cNvSpPr/>
          <p:nvPr/>
        </p:nvSpPr>
        <p:spPr>
          <a:xfrm>
            <a:off x="8595360" y="1673352"/>
            <a:ext cx="2560320" cy="146304"/>
          </a:xfrm>
          <a:prstGeom prst="rect">
            <a:avLst/>
          </a:prstGeom>
          <a:solidFill>
            <a:srgbClr val="10B981"/>
          </a:solidFill>
          <a:ln/>
        </p:spPr>
      </p:sp>
      <p:sp>
        <p:nvSpPr>
          <p:cNvPr id="24" name="Text 22"/>
          <p:cNvSpPr/>
          <p:nvPr/>
        </p:nvSpPr>
        <p:spPr>
          <a:xfrm>
            <a:off x="11247120" y="1618488"/>
            <a:ext cx="914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10B981"/>
                </a:solidFill>
              </a:rPr>
              <a:t>100%</a:t>
            </a:r>
            <a:endParaRPr lang="en-US" sz="1100" dirty="0"/>
          </a:p>
        </p:txBody>
      </p:sp>
      <p:sp>
        <p:nvSpPr>
          <p:cNvPr id="25" name="Text 23"/>
          <p:cNvSpPr/>
          <p:nvPr/>
        </p:nvSpPr>
        <p:spPr>
          <a:xfrm>
            <a:off x="6492240" y="2276856"/>
            <a:ext cx="2011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6889"/>
                </a:solidFill>
              </a:rPr>
              <a:t>Onboarding Clarity</a:t>
            </a:r>
            <a:endParaRPr lang="en-US" sz="1000" dirty="0"/>
          </a:p>
        </p:txBody>
      </p:sp>
      <p:sp>
        <p:nvSpPr>
          <p:cNvPr id="26" name="Shape 24"/>
          <p:cNvSpPr/>
          <p:nvPr/>
        </p:nvSpPr>
        <p:spPr>
          <a:xfrm>
            <a:off x="8595360" y="2331720"/>
            <a:ext cx="2560320" cy="146304"/>
          </a:xfrm>
          <a:prstGeom prst="rect">
            <a:avLst/>
          </a:prstGeom>
          <a:solidFill>
            <a:srgbClr val="1E1B3A"/>
          </a:solidFill>
          <a:ln/>
        </p:spPr>
      </p:sp>
      <p:sp>
        <p:nvSpPr>
          <p:cNvPr id="27" name="Shape 25"/>
          <p:cNvSpPr/>
          <p:nvPr/>
        </p:nvSpPr>
        <p:spPr>
          <a:xfrm>
            <a:off x="8595360" y="2331720"/>
            <a:ext cx="2304288" cy="146304"/>
          </a:xfrm>
          <a:prstGeom prst="rect">
            <a:avLst/>
          </a:prstGeom>
          <a:solidFill>
            <a:srgbClr val="06B6D4"/>
          </a:solidFill>
          <a:ln/>
        </p:spPr>
      </p:sp>
      <p:sp>
        <p:nvSpPr>
          <p:cNvPr id="28" name="Text 26"/>
          <p:cNvSpPr/>
          <p:nvPr/>
        </p:nvSpPr>
        <p:spPr>
          <a:xfrm>
            <a:off x="11247120" y="2276856"/>
            <a:ext cx="914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06B6D4"/>
                </a:solidFill>
              </a:rPr>
              <a:t>90%</a:t>
            </a:r>
            <a:endParaRPr lang="en-US" sz="1100" dirty="0"/>
          </a:p>
        </p:txBody>
      </p:sp>
      <p:sp>
        <p:nvSpPr>
          <p:cNvPr id="29" name="Shape 27"/>
          <p:cNvSpPr/>
          <p:nvPr/>
        </p:nvSpPr>
        <p:spPr>
          <a:xfrm>
            <a:off x="6217920" y="3474720"/>
            <a:ext cx="5669280" cy="3063240"/>
          </a:xfrm>
          <a:prstGeom prst="rect">
            <a:avLst/>
          </a:prstGeom>
          <a:solidFill>
            <a:srgbClr val="A855F7">
              <a:alpha val="6000"/>
            </a:srgbClr>
          </a:solidFill>
          <a:ln w="12700">
            <a:solidFill>
              <a:srgbClr val="A855F7">
                <a:alpha val="30000"/>
              </a:srgbClr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6492240" y="3703320"/>
            <a:ext cx="512064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A855F7"/>
                </a:solidFill>
              </a:rPr>
              <a:t>DECISION-MAKING IMPACT</a:t>
            </a:r>
            <a:endParaRPr lang="en-US" sz="800" dirty="0"/>
          </a:p>
        </p:txBody>
      </p:sp>
      <p:sp>
        <p:nvSpPr>
          <p:cNvPr id="31" name="Text 29"/>
          <p:cNvSpPr/>
          <p:nvPr/>
        </p:nvSpPr>
        <p:spPr>
          <a:xfrm>
            <a:off x="6492240" y="4069080"/>
            <a:ext cx="5120640" cy="2286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6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Enterprise procurement teams always ask "who can see what?" A fine-grained RBAC system supports multi-team deployments, reseller scenarios, and outsourced NOC models — all of which are standard in carrier environments.</a:t>
            </a:r>
            <a:endParaRPr lang="en-US" sz="1100" dirty="0"/>
          </a:p>
        </p:txBody>
      </p:sp>
      <p:sp>
        <p:nvSpPr>
          <p:cNvPr id="32" name="Text 30"/>
          <p:cNvSpPr/>
          <p:nvPr/>
        </p:nvSpPr>
        <p:spPr>
          <a:xfrm>
            <a:off x="10789920" y="6492240"/>
            <a:ext cx="10972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889"/>
                </a:solidFill>
              </a:rPr>
              <a:t>09 / 11</a:t>
            </a:r>
            <a:endParaRPr lang="en-US" sz="9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5040F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54864" cy="6858000"/>
          </a:xfrm>
          <a:prstGeom prst="rect">
            <a:avLst/>
          </a:prstGeom>
          <a:solidFill>
            <a:srgbClr val="0EA5E9"/>
          </a:solidFill>
          <a:ln/>
        </p:spPr>
      </p:sp>
      <p:sp>
        <p:nvSpPr>
          <p:cNvPr id="4" name="Shape 2"/>
          <p:cNvSpPr/>
          <p:nvPr/>
        </p:nvSpPr>
        <p:spPr>
          <a:xfrm>
            <a:off x="54864" y="0"/>
            <a:ext cx="5888736" cy="6858000"/>
          </a:xfrm>
          <a:prstGeom prst="rect">
            <a:avLst/>
          </a:prstGeom>
          <a:solidFill>
            <a:srgbClr val="0F0D1F"/>
          </a:solidFill>
          <a:ln/>
        </p:spPr>
      </p:sp>
      <p:sp>
        <p:nvSpPr>
          <p:cNvPr id="5" name="Text 3"/>
          <p:cNvSpPr/>
          <p:nvPr/>
        </p:nvSpPr>
        <p:spPr>
          <a:xfrm>
            <a:off x="274320" y="91440"/>
            <a:ext cx="2286000" cy="1280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600" b="1" spc="-400" kern="0" dirty="0">
                <a:solidFill>
                  <a:srgbClr val="E2E0F0">
                    <a:alpha val="12000"/>
                  </a:srgbClr>
                </a:solidFill>
              </a:rPr>
              <a:t>10</a:t>
            </a:r>
            <a:endParaRPr lang="en-US" sz="9600" dirty="0"/>
          </a:p>
        </p:txBody>
      </p:sp>
      <p:sp>
        <p:nvSpPr>
          <p:cNvPr id="6" name="Text 4"/>
          <p:cNvSpPr/>
          <p:nvPr/>
        </p:nvSpPr>
        <p:spPr>
          <a:xfrm>
            <a:off x="274320" y="868680"/>
            <a:ext cx="54864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2600" b="1" dirty="0">
                <a:solidFill>
                  <a:srgbClr val="FFFFFF"/>
                </a:solidFill>
              </a:rPr>
              <a:t>Vendor SLA Scorecard &amp; Billing Dispute Tracker</a:t>
            </a:r>
            <a:endParaRPr lang="en-US" sz="2600" dirty="0"/>
          </a:p>
        </p:txBody>
      </p:sp>
      <p:sp>
        <p:nvSpPr>
          <p:cNvPr id="7" name="Text 5"/>
          <p:cNvSpPr/>
          <p:nvPr/>
        </p:nvSpPr>
        <p:spPr>
          <a:xfrm>
            <a:off x="274320" y="1783080"/>
            <a:ext cx="548640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6B6889"/>
                </a:solidFill>
              </a:rPr>
              <a:t>Vendor accountability with structured cost recovery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274320" y="2212848"/>
            <a:ext cx="5486400" cy="0"/>
          </a:xfrm>
          <a:prstGeom prst="line">
            <a:avLst/>
          </a:prstGeom>
          <a:noFill/>
          <a:ln w="19050">
            <a:solidFill>
              <a:srgbClr val="0EA5E9">
                <a:alpha val="40000"/>
              </a:srgbClr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274320" y="2432304"/>
            <a:ext cx="91440" cy="91440"/>
          </a:xfrm>
          <a:prstGeom prst="ellipse">
            <a:avLst/>
          </a:prstGeom>
          <a:solidFill>
            <a:srgbClr val="0EA5E9"/>
          </a:solidFill>
          <a:ln/>
        </p:spPr>
      </p:sp>
      <p:sp>
        <p:nvSpPr>
          <p:cNvPr id="10" name="Text 8"/>
          <p:cNvSpPr/>
          <p:nvPr/>
        </p:nvSpPr>
        <p:spPr>
          <a:xfrm>
            <a:off x="457200" y="2377440"/>
            <a:ext cx="539496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Automated SLA monitoring tracks ASR, ACD, and MOS per vendor connection against configured thresholds — breach events are logged with timestamp, duration, and severity for every vendor.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274320" y="3666744"/>
            <a:ext cx="91440" cy="91440"/>
          </a:xfrm>
          <a:prstGeom prst="ellipse">
            <a:avLst/>
          </a:prstGeom>
          <a:solidFill>
            <a:srgbClr val="0EA5E9"/>
          </a:solidFill>
          <a:ln/>
        </p:spPr>
      </p:sp>
      <p:sp>
        <p:nvSpPr>
          <p:cNvPr id="12" name="Text 10"/>
          <p:cNvSpPr/>
          <p:nvPr/>
        </p:nvSpPr>
        <p:spPr>
          <a:xfrm>
            <a:off x="457200" y="3611880"/>
            <a:ext cx="539496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The Billing Dispute Tracker provides a structured workflow to log, document, and track disputes through to resolution, with linked CDR evidence and timeline records.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274320" y="4901184"/>
            <a:ext cx="91440" cy="91440"/>
          </a:xfrm>
          <a:prstGeom prst="ellipse">
            <a:avLst/>
          </a:prstGeom>
          <a:solidFill>
            <a:srgbClr val="0EA5E9"/>
          </a:solidFill>
          <a:ln/>
        </p:spPr>
      </p:sp>
      <p:sp>
        <p:nvSpPr>
          <p:cNvPr id="14" name="Text 12"/>
          <p:cNvSpPr/>
          <p:nvPr/>
        </p:nvSpPr>
        <p:spPr>
          <a:xfrm>
            <a:off x="457200" y="4846320"/>
            <a:ext cx="539496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Historical SLA trend data gives procurement teams quantitative leverage in vendor negotiations — replacing informal email threads with auditable performance records.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6217920" y="274320"/>
            <a:ext cx="5669280" cy="3017520"/>
          </a:xfrm>
          <a:prstGeom prst="rect">
            <a:avLst/>
          </a:prstGeom>
          <a:solidFill>
            <a:srgbClr val="0F0D1F"/>
          </a:solidFill>
          <a:ln w="12700">
            <a:solidFill>
              <a:srgbClr val="1E1B3A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6492240" y="502920"/>
            <a:ext cx="5120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6B6889"/>
                </a:solidFill>
              </a:rPr>
              <a:t>PERFORMANCE INDICATORS</a:t>
            </a:r>
            <a:endParaRPr lang="en-US" sz="800" dirty="0"/>
          </a:p>
        </p:txBody>
      </p:sp>
      <p:sp>
        <p:nvSpPr>
          <p:cNvPr id="17" name="Text 15"/>
          <p:cNvSpPr/>
          <p:nvPr/>
        </p:nvSpPr>
        <p:spPr>
          <a:xfrm>
            <a:off x="6492240" y="960120"/>
            <a:ext cx="2011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6889"/>
                </a:solidFill>
              </a:rPr>
              <a:t>SLA Visibility</a:t>
            </a:r>
            <a:endParaRPr lang="en-US" sz="1000" dirty="0"/>
          </a:p>
        </p:txBody>
      </p:sp>
      <p:sp>
        <p:nvSpPr>
          <p:cNvPr id="18" name="Shape 16"/>
          <p:cNvSpPr/>
          <p:nvPr/>
        </p:nvSpPr>
        <p:spPr>
          <a:xfrm>
            <a:off x="8595360" y="1014984"/>
            <a:ext cx="2560320" cy="146304"/>
          </a:xfrm>
          <a:prstGeom prst="rect">
            <a:avLst/>
          </a:prstGeom>
          <a:solidFill>
            <a:srgbClr val="1E1B3A"/>
          </a:solidFill>
          <a:ln/>
        </p:spPr>
      </p:sp>
      <p:sp>
        <p:nvSpPr>
          <p:cNvPr id="19" name="Shape 17"/>
          <p:cNvSpPr/>
          <p:nvPr/>
        </p:nvSpPr>
        <p:spPr>
          <a:xfrm>
            <a:off x="8595360" y="1014984"/>
            <a:ext cx="2483510" cy="146304"/>
          </a:xfrm>
          <a:prstGeom prst="rect">
            <a:avLst/>
          </a:prstGeom>
          <a:solidFill>
            <a:srgbClr val="0EA5E9"/>
          </a:solidFill>
          <a:ln/>
        </p:spPr>
      </p:sp>
      <p:sp>
        <p:nvSpPr>
          <p:cNvPr id="20" name="Text 18"/>
          <p:cNvSpPr/>
          <p:nvPr/>
        </p:nvSpPr>
        <p:spPr>
          <a:xfrm>
            <a:off x="11247120" y="960120"/>
            <a:ext cx="914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0EA5E9"/>
                </a:solidFill>
              </a:rPr>
              <a:t>97%</a:t>
            </a:r>
            <a:endParaRPr lang="en-US" sz="1100" dirty="0"/>
          </a:p>
        </p:txBody>
      </p:sp>
      <p:sp>
        <p:nvSpPr>
          <p:cNvPr id="21" name="Text 19"/>
          <p:cNvSpPr/>
          <p:nvPr/>
        </p:nvSpPr>
        <p:spPr>
          <a:xfrm>
            <a:off x="6492240" y="1618488"/>
            <a:ext cx="2011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6889"/>
                </a:solidFill>
              </a:rPr>
              <a:t>Dispute Resolution</a:t>
            </a:r>
            <a:endParaRPr lang="en-US" sz="1000" dirty="0"/>
          </a:p>
        </p:txBody>
      </p:sp>
      <p:sp>
        <p:nvSpPr>
          <p:cNvPr id="22" name="Shape 20"/>
          <p:cNvSpPr/>
          <p:nvPr/>
        </p:nvSpPr>
        <p:spPr>
          <a:xfrm>
            <a:off x="8595360" y="1673352"/>
            <a:ext cx="2560320" cy="146304"/>
          </a:xfrm>
          <a:prstGeom prst="rect">
            <a:avLst/>
          </a:prstGeom>
          <a:solidFill>
            <a:srgbClr val="1E1B3A"/>
          </a:solidFill>
          <a:ln/>
        </p:spPr>
      </p:sp>
      <p:sp>
        <p:nvSpPr>
          <p:cNvPr id="23" name="Shape 21"/>
          <p:cNvSpPr/>
          <p:nvPr/>
        </p:nvSpPr>
        <p:spPr>
          <a:xfrm>
            <a:off x="8595360" y="1673352"/>
            <a:ext cx="2125066" cy="146304"/>
          </a:xfrm>
          <a:prstGeom prst="rect">
            <a:avLst/>
          </a:prstGeom>
          <a:solidFill>
            <a:srgbClr val="10B981"/>
          </a:solidFill>
          <a:ln/>
        </p:spPr>
      </p:sp>
      <p:sp>
        <p:nvSpPr>
          <p:cNvPr id="24" name="Text 22"/>
          <p:cNvSpPr/>
          <p:nvPr/>
        </p:nvSpPr>
        <p:spPr>
          <a:xfrm>
            <a:off x="11247120" y="1618488"/>
            <a:ext cx="914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10B981"/>
                </a:solidFill>
              </a:rPr>
              <a:t>83%</a:t>
            </a:r>
            <a:endParaRPr lang="en-US" sz="1100" dirty="0"/>
          </a:p>
        </p:txBody>
      </p:sp>
      <p:sp>
        <p:nvSpPr>
          <p:cNvPr id="25" name="Text 23"/>
          <p:cNvSpPr/>
          <p:nvPr/>
        </p:nvSpPr>
        <p:spPr>
          <a:xfrm>
            <a:off x="6492240" y="2276856"/>
            <a:ext cx="2011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6889"/>
                </a:solidFill>
              </a:rPr>
              <a:t>Negotiation Leverage</a:t>
            </a:r>
            <a:endParaRPr lang="en-US" sz="1000" dirty="0"/>
          </a:p>
        </p:txBody>
      </p:sp>
      <p:sp>
        <p:nvSpPr>
          <p:cNvPr id="26" name="Shape 24"/>
          <p:cNvSpPr/>
          <p:nvPr/>
        </p:nvSpPr>
        <p:spPr>
          <a:xfrm>
            <a:off x="8595360" y="2331720"/>
            <a:ext cx="2560320" cy="146304"/>
          </a:xfrm>
          <a:prstGeom prst="rect">
            <a:avLst/>
          </a:prstGeom>
          <a:solidFill>
            <a:srgbClr val="1E1B3A"/>
          </a:solidFill>
          <a:ln/>
        </p:spPr>
      </p:sp>
      <p:sp>
        <p:nvSpPr>
          <p:cNvPr id="27" name="Shape 25"/>
          <p:cNvSpPr/>
          <p:nvPr/>
        </p:nvSpPr>
        <p:spPr>
          <a:xfrm>
            <a:off x="8595360" y="2331720"/>
            <a:ext cx="2329891" cy="146304"/>
          </a:xfrm>
          <a:prstGeom prst="rect">
            <a:avLst/>
          </a:prstGeom>
          <a:solidFill>
            <a:srgbClr val="F59E0B"/>
          </a:solidFill>
          <a:ln/>
        </p:spPr>
      </p:sp>
      <p:sp>
        <p:nvSpPr>
          <p:cNvPr id="28" name="Text 26"/>
          <p:cNvSpPr/>
          <p:nvPr/>
        </p:nvSpPr>
        <p:spPr>
          <a:xfrm>
            <a:off x="11247120" y="2276856"/>
            <a:ext cx="914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F59E0B"/>
                </a:solidFill>
              </a:rPr>
              <a:t>91%</a:t>
            </a:r>
            <a:endParaRPr lang="en-US" sz="1100" dirty="0"/>
          </a:p>
        </p:txBody>
      </p:sp>
      <p:sp>
        <p:nvSpPr>
          <p:cNvPr id="29" name="Shape 27"/>
          <p:cNvSpPr/>
          <p:nvPr/>
        </p:nvSpPr>
        <p:spPr>
          <a:xfrm>
            <a:off x="6217920" y="3474720"/>
            <a:ext cx="5669280" cy="3063240"/>
          </a:xfrm>
          <a:prstGeom prst="rect">
            <a:avLst/>
          </a:prstGeom>
          <a:solidFill>
            <a:srgbClr val="0EA5E9">
              <a:alpha val="6000"/>
            </a:srgbClr>
          </a:solidFill>
          <a:ln w="12700">
            <a:solidFill>
              <a:srgbClr val="0EA5E9">
                <a:alpha val="30000"/>
              </a:srgbClr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6492240" y="3703320"/>
            <a:ext cx="512064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0EA5E9"/>
                </a:solidFill>
              </a:rPr>
              <a:t>DECISION-MAKING IMPACT</a:t>
            </a:r>
            <a:endParaRPr lang="en-US" sz="800" dirty="0"/>
          </a:p>
        </p:txBody>
      </p:sp>
      <p:sp>
        <p:nvSpPr>
          <p:cNvPr id="31" name="Text 29"/>
          <p:cNvSpPr/>
          <p:nvPr/>
        </p:nvSpPr>
        <p:spPr>
          <a:xfrm>
            <a:off x="6492240" y="4069080"/>
            <a:ext cx="5120640" cy="2286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6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In margin-compressed wholesale VoIP, recovering costs from SLA breaches and billing disputes has a direct, calculable dollar value. Finance committees approve platforms that pay for themselves.</a:t>
            </a:r>
            <a:endParaRPr lang="en-US" sz="1100" dirty="0"/>
          </a:p>
        </p:txBody>
      </p:sp>
      <p:sp>
        <p:nvSpPr>
          <p:cNvPr id="32" name="Text 30"/>
          <p:cNvSpPr/>
          <p:nvPr/>
        </p:nvSpPr>
        <p:spPr>
          <a:xfrm>
            <a:off x="10789920" y="6492240"/>
            <a:ext cx="10972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889"/>
                </a:solidFill>
              </a:rPr>
              <a:t>10 / 11</a:t>
            </a:r>
            <a:endParaRPr lang="en-US" sz="9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5040F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54864" cy="6858000"/>
          </a:xfrm>
          <a:prstGeom prst="rect">
            <a:avLst/>
          </a:prstGeom>
          <a:solidFill>
            <a:srgbClr val="10B981"/>
          </a:solidFill>
          <a:ln/>
        </p:spPr>
      </p:sp>
      <p:sp>
        <p:nvSpPr>
          <p:cNvPr id="4" name="Shape 2"/>
          <p:cNvSpPr/>
          <p:nvPr/>
        </p:nvSpPr>
        <p:spPr>
          <a:xfrm>
            <a:off x="54864" y="0"/>
            <a:ext cx="5888736" cy="6858000"/>
          </a:xfrm>
          <a:prstGeom prst="rect">
            <a:avLst/>
          </a:prstGeom>
          <a:solidFill>
            <a:srgbClr val="0F0D1F"/>
          </a:solidFill>
          <a:ln/>
        </p:spPr>
      </p:sp>
      <p:sp>
        <p:nvSpPr>
          <p:cNvPr id="5" name="Text 3"/>
          <p:cNvSpPr/>
          <p:nvPr/>
        </p:nvSpPr>
        <p:spPr>
          <a:xfrm>
            <a:off x="274320" y="91440"/>
            <a:ext cx="2286000" cy="1280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600" b="1" spc="-400" kern="0" dirty="0">
                <a:solidFill>
                  <a:srgbClr val="E2E0F0">
                    <a:alpha val="12000"/>
                  </a:srgbClr>
                </a:solidFill>
              </a:rPr>
              <a:t>11</a:t>
            </a:r>
            <a:endParaRPr lang="en-US" sz="9600" dirty="0"/>
          </a:p>
        </p:txBody>
      </p:sp>
      <p:sp>
        <p:nvSpPr>
          <p:cNvPr id="6" name="Text 4"/>
          <p:cNvSpPr/>
          <p:nvPr/>
        </p:nvSpPr>
        <p:spPr>
          <a:xfrm>
            <a:off x="274320" y="868680"/>
            <a:ext cx="54864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2600" b="1" dirty="0">
                <a:solidFill>
                  <a:srgbClr val="FFFFFF"/>
                </a:solidFill>
              </a:rPr>
              <a:t>Number Intelligence &amp; HLR Lookup</a:t>
            </a:r>
            <a:endParaRPr lang="en-US" sz="2600" dirty="0"/>
          </a:p>
        </p:txBody>
      </p:sp>
      <p:sp>
        <p:nvSpPr>
          <p:cNvPr id="7" name="Text 5"/>
          <p:cNvSpPr/>
          <p:nvPr/>
        </p:nvSpPr>
        <p:spPr>
          <a:xfrm>
            <a:off x="274320" y="1783080"/>
            <a:ext cx="548640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6B6889"/>
                </a:solidFill>
              </a:rPr>
              <a:t>Real carrier data on any number — one click, zero guesswork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274320" y="2212848"/>
            <a:ext cx="5486400" cy="0"/>
          </a:xfrm>
          <a:prstGeom prst="line">
            <a:avLst/>
          </a:prstGeom>
          <a:noFill/>
          <a:ln w="19050">
            <a:solidFill>
              <a:srgbClr val="10B981">
                <a:alpha val="40000"/>
              </a:srgbClr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274320" y="2432304"/>
            <a:ext cx="91440" cy="91440"/>
          </a:xfrm>
          <a:prstGeom prst="ellipse">
            <a:avLst/>
          </a:prstGeom>
          <a:solidFill>
            <a:srgbClr val="10B981"/>
          </a:solidFill>
          <a:ln/>
        </p:spPr>
      </p:sp>
      <p:sp>
        <p:nvSpPr>
          <p:cNvPr id="10" name="Text 8"/>
          <p:cNvSpPr/>
          <p:nvPr/>
        </p:nvSpPr>
        <p:spPr>
          <a:xfrm>
            <a:off x="457200" y="2377440"/>
            <a:ext cx="539496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Parallel HLR + MNP API calls return live network status, current carrier, line type (Mobile/Fixed/VoIP), MCC/MNC network code, and porting status — cached 24 hours to control cost.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274320" y="3666744"/>
            <a:ext cx="91440" cy="91440"/>
          </a:xfrm>
          <a:prstGeom prst="ellipse">
            <a:avLst/>
          </a:prstGeom>
          <a:solidFill>
            <a:srgbClr val="10B981"/>
          </a:solidFill>
          <a:ln/>
        </p:spPr>
      </p:sp>
      <p:sp>
        <p:nvSpPr>
          <p:cNvPr id="12" name="Text 10"/>
          <p:cNvSpPr/>
          <p:nvPr/>
        </p:nvSpPr>
        <p:spPr>
          <a:xfrm>
            <a:off x="457200" y="3611880"/>
            <a:ext cx="539496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STIR/SHAKEN attestation level, reputation score from FAS event history, CDR match count, and CDR-sourced CNAM are layered on top of the HLR result.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274320" y="4901184"/>
            <a:ext cx="91440" cy="91440"/>
          </a:xfrm>
          <a:prstGeom prst="ellipse">
            <a:avLst/>
          </a:prstGeom>
          <a:solidFill>
            <a:srgbClr val="10B981"/>
          </a:solidFill>
          <a:ln/>
        </p:spPr>
      </p:sp>
      <p:sp>
        <p:nvSpPr>
          <p:cNvPr id="14" name="Text 12"/>
          <p:cNvSpPr/>
          <p:nvPr/>
        </p:nvSpPr>
        <p:spPr>
          <a:xfrm>
            <a:off x="457200" y="4846320"/>
            <a:ext cx="539496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Provider is configurable from the Number Intelligence page — supports hlrlookup.com or Telnyx; falls back to Sippy CDR data when no provider is configured.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6217920" y="274320"/>
            <a:ext cx="5669280" cy="3017520"/>
          </a:xfrm>
          <a:prstGeom prst="rect">
            <a:avLst/>
          </a:prstGeom>
          <a:solidFill>
            <a:srgbClr val="0F0D1F"/>
          </a:solidFill>
          <a:ln w="12700">
            <a:solidFill>
              <a:srgbClr val="1E1B3A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6492240" y="502920"/>
            <a:ext cx="5120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6B6889"/>
                </a:solidFill>
              </a:rPr>
              <a:t>PERFORMANCE INDICATORS</a:t>
            </a:r>
            <a:endParaRPr lang="en-US" sz="800" dirty="0"/>
          </a:p>
        </p:txBody>
      </p:sp>
      <p:sp>
        <p:nvSpPr>
          <p:cNvPr id="17" name="Text 15"/>
          <p:cNvSpPr/>
          <p:nvPr/>
        </p:nvSpPr>
        <p:spPr>
          <a:xfrm>
            <a:off x="6492240" y="960120"/>
            <a:ext cx="2011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6889"/>
                </a:solidFill>
              </a:rPr>
              <a:t>Fields Populated</a:t>
            </a:r>
            <a:endParaRPr lang="en-US" sz="1000" dirty="0"/>
          </a:p>
        </p:txBody>
      </p:sp>
      <p:sp>
        <p:nvSpPr>
          <p:cNvPr id="18" name="Shape 16"/>
          <p:cNvSpPr/>
          <p:nvPr/>
        </p:nvSpPr>
        <p:spPr>
          <a:xfrm>
            <a:off x="8595360" y="1014984"/>
            <a:ext cx="2560320" cy="146304"/>
          </a:xfrm>
          <a:prstGeom prst="rect">
            <a:avLst/>
          </a:prstGeom>
          <a:solidFill>
            <a:srgbClr val="1E1B3A"/>
          </a:solidFill>
          <a:ln/>
        </p:spPr>
      </p:sp>
      <p:sp>
        <p:nvSpPr>
          <p:cNvPr id="19" name="Shape 17"/>
          <p:cNvSpPr/>
          <p:nvPr/>
        </p:nvSpPr>
        <p:spPr>
          <a:xfrm>
            <a:off x="8595360" y="1014984"/>
            <a:ext cx="460858" cy="146304"/>
          </a:xfrm>
          <a:prstGeom prst="rect">
            <a:avLst/>
          </a:prstGeom>
          <a:solidFill>
            <a:srgbClr val="10B981"/>
          </a:solidFill>
          <a:ln/>
        </p:spPr>
      </p:sp>
      <p:sp>
        <p:nvSpPr>
          <p:cNvPr id="20" name="Text 18"/>
          <p:cNvSpPr/>
          <p:nvPr/>
        </p:nvSpPr>
        <p:spPr>
          <a:xfrm>
            <a:off x="11247120" y="960120"/>
            <a:ext cx="914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10B981"/>
                </a:solidFill>
              </a:rPr>
              <a:t>9 data points</a:t>
            </a:r>
            <a:endParaRPr lang="en-US" sz="1100" dirty="0"/>
          </a:p>
        </p:txBody>
      </p:sp>
      <p:sp>
        <p:nvSpPr>
          <p:cNvPr id="21" name="Text 19"/>
          <p:cNvSpPr/>
          <p:nvPr/>
        </p:nvSpPr>
        <p:spPr>
          <a:xfrm>
            <a:off x="6492240" y="1618488"/>
            <a:ext cx="2011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6889"/>
                </a:solidFill>
              </a:rPr>
              <a:t>Lookup Speed</a:t>
            </a:r>
            <a:endParaRPr lang="en-US" sz="1000" dirty="0"/>
          </a:p>
        </p:txBody>
      </p:sp>
      <p:sp>
        <p:nvSpPr>
          <p:cNvPr id="22" name="Shape 20"/>
          <p:cNvSpPr/>
          <p:nvPr/>
        </p:nvSpPr>
        <p:spPr>
          <a:xfrm>
            <a:off x="8595360" y="1673352"/>
            <a:ext cx="2560320" cy="146304"/>
          </a:xfrm>
          <a:prstGeom prst="rect">
            <a:avLst/>
          </a:prstGeom>
          <a:solidFill>
            <a:srgbClr val="1E1B3A"/>
          </a:solidFill>
          <a:ln/>
        </p:spPr>
      </p:sp>
      <p:sp>
        <p:nvSpPr>
          <p:cNvPr id="23" name="Shape 21"/>
          <p:cNvSpPr/>
          <p:nvPr/>
        </p:nvSpPr>
        <p:spPr>
          <a:xfrm>
            <a:off x="8595360" y="1673352"/>
            <a:ext cx="2457907" cy="146304"/>
          </a:xfrm>
          <a:prstGeom prst="rect">
            <a:avLst/>
          </a:prstGeom>
          <a:solidFill>
            <a:srgbClr val="06B6D4"/>
          </a:solidFill>
          <a:ln/>
        </p:spPr>
      </p:sp>
      <p:sp>
        <p:nvSpPr>
          <p:cNvPr id="24" name="Text 22"/>
          <p:cNvSpPr/>
          <p:nvPr/>
        </p:nvSpPr>
        <p:spPr>
          <a:xfrm>
            <a:off x="11247120" y="1618488"/>
            <a:ext cx="914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06B6D4"/>
                </a:solidFill>
              </a:rPr>
              <a:t>96%</a:t>
            </a:r>
            <a:endParaRPr lang="en-US" sz="1100" dirty="0"/>
          </a:p>
        </p:txBody>
      </p:sp>
      <p:sp>
        <p:nvSpPr>
          <p:cNvPr id="25" name="Text 23"/>
          <p:cNvSpPr/>
          <p:nvPr/>
        </p:nvSpPr>
        <p:spPr>
          <a:xfrm>
            <a:off x="6492240" y="2276856"/>
            <a:ext cx="2011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6889"/>
                </a:solidFill>
              </a:rPr>
              <a:t>Cache Hit Rate</a:t>
            </a:r>
            <a:endParaRPr lang="en-US" sz="1000" dirty="0"/>
          </a:p>
        </p:txBody>
      </p:sp>
      <p:sp>
        <p:nvSpPr>
          <p:cNvPr id="26" name="Shape 24"/>
          <p:cNvSpPr/>
          <p:nvPr/>
        </p:nvSpPr>
        <p:spPr>
          <a:xfrm>
            <a:off x="8595360" y="2331720"/>
            <a:ext cx="2560320" cy="146304"/>
          </a:xfrm>
          <a:prstGeom prst="rect">
            <a:avLst/>
          </a:prstGeom>
          <a:solidFill>
            <a:srgbClr val="1E1B3A"/>
          </a:solidFill>
          <a:ln/>
        </p:spPr>
      </p:sp>
      <p:sp>
        <p:nvSpPr>
          <p:cNvPr id="27" name="Shape 25"/>
          <p:cNvSpPr/>
          <p:nvPr/>
        </p:nvSpPr>
        <p:spPr>
          <a:xfrm>
            <a:off x="8595360" y="2331720"/>
            <a:ext cx="2253082" cy="146304"/>
          </a:xfrm>
          <a:prstGeom prst="rect">
            <a:avLst/>
          </a:prstGeom>
          <a:solidFill>
            <a:srgbClr val="8B5CF6"/>
          </a:solidFill>
          <a:ln/>
        </p:spPr>
      </p:sp>
      <p:sp>
        <p:nvSpPr>
          <p:cNvPr id="28" name="Text 26"/>
          <p:cNvSpPr/>
          <p:nvPr/>
        </p:nvSpPr>
        <p:spPr>
          <a:xfrm>
            <a:off x="11247120" y="2276856"/>
            <a:ext cx="914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8B5CF6"/>
                </a:solidFill>
              </a:rPr>
              <a:t>88%</a:t>
            </a:r>
            <a:endParaRPr lang="en-US" sz="1100" dirty="0"/>
          </a:p>
        </p:txBody>
      </p:sp>
      <p:sp>
        <p:nvSpPr>
          <p:cNvPr id="29" name="Shape 27"/>
          <p:cNvSpPr/>
          <p:nvPr/>
        </p:nvSpPr>
        <p:spPr>
          <a:xfrm>
            <a:off x="6217920" y="3474720"/>
            <a:ext cx="5669280" cy="3063240"/>
          </a:xfrm>
          <a:prstGeom prst="rect">
            <a:avLst/>
          </a:prstGeom>
          <a:solidFill>
            <a:srgbClr val="10B981">
              <a:alpha val="6000"/>
            </a:srgbClr>
          </a:solidFill>
          <a:ln w="12700">
            <a:solidFill>
              <a:srgbClr val="10B981">
                <a:alpha val="30000"/>
              </a:srgbClr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6492240" y="3703320"/>
            <a:ext cx="512064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10B981"/>
                </a:solidFill>
              </a:rPr>
              <a:t>DECISION-MAKING IMPACT</a:t>
            </a:r>
            <a:endParaRPr lang="en-US" sz="800" dirty="0"/>
          </a:p>
        </p:txBody>
      </p:sp>
      <p:sp>
        <p:nvSpPr>
          <p:cNvPr id="31" name="Text 29"/>
          <p:cNvSpPr/>
          <p:nvPr/>
        </p:nvSpPr>
        <p:spPr>
          <a:xfrm>
            <a:off x="6492240" y="4069080"/>
            <a:ext cx="5120640" cy="2286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6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Fraud investigation, CLI screening, and regulatory compliance all require knowing whether a number is real, active, and where it originates. This removes the manual carrier portal lookup and puts verified number intelligence directly in the hands of NOC and compliance teams.</a:t>
            </a:r>
            <a:endParaRPr lang="en-US" sz="1100" dirty="0"/>
          </a:p>
        </p:txBody>
      </p:sp>
      <p:sp>
        <p:nvSpPr>
          <p:cNvPr id="32" name="Text 30"/>
          <p:cNvSpPr/>
          <p:nvPr/>
        </p:nvSpPr>
        <p:spPr>
          <a:xfrm>
            <a:off x="10789920" y="6492240"/>
            <a:ext cx="10972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889"/>
                </a:solidFill>
              </a:rPr>
              <a:t>11 / 11</a:t>
            </a:r>
            <a:endParaRPr lang="en-US" sz="9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5040F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1A0A3D">
              <a:alpha val="50000"/>
            </a:srgbClr>
          </a:solidFill>
          <a:ln/>
        </p:spPr>
      </p:sp>
      <p:sp>
        <p:nvSpPr>
          <p:cNvPr id="4" name="Text 2"/>
          <p:cNvSpPr/>
          <p:nvPr/>
        </p:nvSpPr>
        <p:spPr>
          <a:xfrm>
            <a:off x="5029200" y="457200"/>
            <a:ext cx="210312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dirty="0">
                <a:solidFill>
                  <a:srgbClr val="7C3AED"/>
                </a:solidFill>
              </a:rPr>
              <a:t>✦</a:t>
            </a:r>
            <a:endParaRPr lang="en-US" sz="2800" dirty="0"/>
          </a:p>
        </p:txBody>
      </p:sp>
      <p:sp>
        <p:nvSpPr>
          <p:cNvPr id="5" name="Text 3"/>
          <p:cNvSpPr/>
          <p:nvPr/>
        </p:nvSpPr>
        <p:spPr>
          <a:xfrm>
            <a:off x="914400" y="1097280"/>
            <a:ext cx="1033272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3200" b="1" dirty="0">
                <a:solidFill>
                  <a:srgbClr val="FFFFFF"/>
                </a:solidFill>
              </a:rPr>
              <a:t>Built for the Way Carriers Actually Operate</a:t>
            </a:r>
            <a:endParaRPr lang="en-US" sz="3200" dirty="0"/>
          </a:p>
        </p:txBody>
      </p:sp>
      <p:sp>
        <p:nvSpPr>
          <p:cNvPr id="6" name="Shape 4"/>
          <p:cNvSpPr/>
          <p:nvPr/>
        </p:nvSpPr>
        <p:spPr>
          <a:xfrm>
            <a:off x="1371600" y="2377440"/>
            <a:ext cx="9418320" cy="566928"/>
          </a:xfrm>
          <a:prstGeom prst="rect">
            <a:avLst/>
          </a:prstGeom>
          <a:solidFill>
            <a:srgbClr val="0F0D1F"/>
          </a:solidFill>
          <a:ln w="12700">
            <a:solidFill>
              <a:srgbClr val="1E1B3A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1554480" y="2377440"/>
            <a:ext cx="914400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E2E0F0"/>
                </a:solidFill>
              </a:rPr>
              <a:t>⚡  Live data — never stale, never batched overnight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1371600" y="3063240"/>
            <a:ext cx="9418320" cy="566928"/>
          </a:xfrm>
          <a:prstGeom prst="rect">
            <a:avLst/>
          </a:prstGeom>
          <a:solidFill>
            <a:srgbClr val="0F0D1F"/>
          </a:solidFill>
          <a:ln w="12700">
            <a:solidFill>
              <a:srgbClr val="1E1B3A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1554480" y="3063240"/>
            <a:ext cx="914400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E2E0F0"/>
                </a:solidFill>
              </a:rPr>
              <a:t>🛡️  Read-only by default — safe for production 24/7</a:t>
            </a:r>
            <a:endParaRPr lang="en-US" sz="1300" dirty="0"/>
          </a:p>
        </p:txBody>
      </p:sp>
      <p:sp>
        <p:nvSpPr>
          <p:cNvPr id="10" name="Shape 8"/>
          <p:cNvSpPr/>
          <p:nvPr/>
        </p:nvSpPr>
        <p:spPr>
          <a:xfrm>
            <a:off x="1371600" y="3749040"/>
            <a:ext cx="9418320" cy="566928"/>
          </a:xfrm>
          <a:prstGeom prst="rect">
            <a:avLst/>
          </a:prstGeom>
          <a:solidFill>
            <a:srgbClr val="0F0D1F"/>
          </a:solidFill>
          <a:ln w="12700">
            <a:solidFill>
              <a:srgbClr val="1E1B3A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1554480" y="3749040"/>
            <a:ext cx="914400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E2E0F0"/>
                </a:solidFill>
              </a:rPr>
              <a:t>📊  From raw CDRs to boardroom margin analytics in one platform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1371600" y="4434840"/>
            <a:ext cx="9418320" cy="566928"/>
          </a:xfrm>
          <a:prstGeom prst="rect">
            <a:avLst/>
          </a:prstGeom>
          <a:solidFill>
            <a:srgbClr val="0F0D1F"/>
          </a:solidFill>
          <a:ln w="12700">
            <a:solidFill>
              <a:srgbClr val="1E1B3A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1554480" y="4434840"/>
            <a:ext cx="914400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E2E0F0"/>
                </a:solidFill>
              </a:rPr>
              <a:t>🔒  Compliance, governance, and audit built in — not bolted on</a:t>
            </a:r>
            <a:endParaRPr lang="en-US" sz="1300" dirty="0"/>
          </a:p>
        </p:txBody>
      </p:sp>
      <p:sp>
        <p:nvSpPr>
          <p:cNvPr id="14" name="Shape 12"/>
          <p:cNvSpPr/>
          <p:nvPr/>
        </p:nvSpPr>
        <p:spPr>
          <a:xfrm>
            <a:off x="1371600" y="5120640"/>
            <a:ext cx="9418320" cy="566928"/>
          </a:xfrm>
          <a:prstGeom prst="rect">
            <a:avLst/>
          </a:prstGeom>
          <a:solidFill>
            <a:srgbClr val="0F0D1F"/>
          </a:solidFill>
          <a:ln w="12700">
            <a:solidFill>
              <a:srgbClr val="1E1B3A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1554480" y="5120640"/>
            <a:ext cx="914400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E2E0F0"/>
                </a:solidFill>
              </a:rPr>
              <a:t>🌍  Multi-switch, multi-region, multi-team ready from day one</a:t>
            </a:r>
            <a:endParaRPr lang="en-US" sz="1300" dirty="0"/>
          </a:p>
        </p:txBody>
      </p:sp>
      <p:sp>
        <p:nvSpPr>
          <p:cNvPr id="16" name="Shape 14"/>
          <p:cNvSpPr/>
          <p:nvPr/>
        </p:nvSpPr>
        <p:spPr>
          <a:xfrm>
            <a:off x="2743200" y="6035040"/>
            <a:ext cx="6675120" cy="0"/>
          </a:xfrm>
          <a:prstGeom prst="line">
            <a:avLst/>
          </a:prstGeom>
          <a:noFill/>
          <a:ln w="12700">
            <a:solidFill>
              <a:srgbClr val="1E1B3A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914400" y="6126480"/>
            <a:ext cx="103327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spc="200" kern="0" dirty="0">
                <a:solidFill>
                  <a:srgbClr val="7C3AED"/>
                </a:solidFill>
              </a:rPr>
              <a:t>Bitsauto — Carrier Intelligence, Commercially Engineered</a:t>
            </a:r>
            <a:endParaRPr lang="en-US" sz="11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13</Slides>
  <Notes>13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13</vt:i4>
      </vt:variant>
    </vt:vector>
  </HeadingPairs>
  <TitlesOfParts>
    <vt:vector size="16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</vt:vector>
  </TitlesOfParts>
  <Company>Bitsauto VoIP Intelligence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Bitsauto VoIP Intelligence Platform</dc:title>
  <dc:subject>Top 11 Commercial Features</dc:subject>
  <dc:creator>Bitsauto</dc:creator>
  <cp:lastModifiedBy>Bitsauto</cp:lastModifiedBy>
  <cp:revision>1</cp:revision>
  <dcterms:created xsi:type="dcterms:W3CDTF">2026-05-26T09:38:14Z</dcterms:created>
  <dcterms:modified xsi:type="dcterms:W3CDTF">2026-05-26T09:38:14Z</dcterms:modified>
</cp:coreProperties>
</file>