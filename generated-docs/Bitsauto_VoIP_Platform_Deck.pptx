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5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100" b="0" i="0" u="none" strike="noStrike">
                <a:solidFill>
                  <a:srgbClr val="FFFFFF"/>
                </a:solidFill>
                <a:latin typeface="Arial"/>
              </a:rPr>
              <a:t>ASR Improvement After Route Optimisation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 ASR (%)</c:v>
                </c:pt>
              </c:strCache>
            </c:strRef>
          </c:tx>
          <c:spPr>
            <a:solidFill>
              <a:srgbClr val="1E78D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Callntalk</c:v>
                  </c:pt>
                  <c:pt idx="1">
                    <c:v>TALK-SIP</c:v>
                  </c:pt>
                  <c:pt idx="2">
                    <c:v>Omantel</c:v>
                  </c:pt>
                  <c:pt idx="3">
                    <c:v>DU Trunk</c:v>
                  </c:pt>
                  <c:pt idx="4">
                    <c:v>PTCL-A1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</c:v>
                </c:pt>
                <c:pt idx="1">
                  <c:v>38</c:v>
                </c:pt>
                <c:pt idx="2">
                  <c:v>51</c:v>
                </c:pt>
                <c:pt idx="3">
                  <c:v>47</c:v>
                </c:pt>
                <c:pt idx="4">
                  <c:v>44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Post-Optimisation ASR (%)</c:v>
                </c:pt>
              </c:strCache>
            </c:strRef>
          </c:tx>
          <c:spPr>
            <a:solidFill>
              <a:srgbClr val="00C4A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Callntalk</c:v>
                  </c:pt>
                  <c:pt idx="1">
                    <c:v>TALK-SIP</c:v>
                  </c:pt>
                  <c:pt idx="2">
                    <c:v>Omantel</c:v>
                  </c:pt>
                  <c:pt idx="3">
                    <c:v>DU Trunk</c:v>
                  </c:pt>
                  <c:pt idx="4">
                    <c:v>PTCL-A1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68</c:v>
                </c:pt>
                <c:pt idx="1">
                  <c:v>63</c:v>
                </c:pt>
                <c:pt idx="2">
                  <c:v>74</c:v>
                </c:pt>
                <c:pt idx="3">
                  <c:v>71</c:v>
                </c:pt>
                <c:pt idx="4">
                  <c:v>69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000" b="0" i="0" u="none" strike="noStrike">
                <a:solidFill>
                  <a:srgbClr val="FFFFFF"/>
                </a:solidFill>
                <a:latin typeface="Arial"/>
              </a:rPr>
              <a:t>Fleet Health Distribution (%)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Fleet Health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0B981"/>
              </a:solidFill>
              <a:effectLst/>
            </c:spPr>
          </c:dPt>
          <c:dPt>
            <c:idx val="1"/>
            <c:bubble3D val="0"/>
            <c:spPr>
              <a:solidFill>
                <a:srgbClr val="38BDF8"/>
              </a:solidFill>
              <a:effectLst/>
            </c:spPr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bubble3D val="0"/>
            <c:spPr>
              <a:solidFill>
                <a:srgbClr val="F97316"/>
              </a:solidFill>
              <a:effectLst/>
            </c:spPr>
          </c:dPt>
          <c:dPt>
            <c:idx val="4"/>
            <c:bubble3D val="0"/>
            <c:spPr>
              <a:solidFill>
                <a:srgbClr val="F43F5E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HEALTHY</c:v>
                </c:pt>
                <c:pt idx="1">
                  <c:v>STABLE</c:v>
                </c:pt>
                <c:pt idx="2">
                  <c:v>WATCH</c:v>
                </c:pt>
                <c:pt idx="3">
                  <c:v>DEGRADED</c:v>
                </c:pt>
                <c:pt idx="4">
                  <c:v>CRITICAL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28</c:v>
                </c:pt>
                <c:pt idx="1">
                  <c:v>22</c:v>
                </c:pt>
                <c:pt idx="2">
                  <c:v>18</c:v>
                </c:pt>
                <c:pt idx="3">
                  <c:v>17</c:v>
                </c:pt>
                <c:pt idx="4">
                  <c:v>15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100" b="0" i="0" u="none" strike="noStrike">
                <a:solidFill>
                  <a:srgbClr val="FFFFFF"/>
                </a:solidFill>
                <a:latin typeface="Arial"/>
              </a:rPr>
              <a:t>Anomaly Events — Last 30 Days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AI Ops Events</c:v>
                </c:pt>
              </c:strCache>
            </c:strRef>
          </c:tx>
          <c:spPr>
            <a:solidFill>
              <a:srgbClr val="F59E0B"/>
            </a:solidFill>
            <a:ln w="25400" cap="flat">
              <a:solidFill>
                <a:srgbClr val="F59E0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D-30</c:v>
                  </c:pt>
                  <c:pt idx="1">
                    <c:v>D-27</c:v>
                  </c:pt>
                  <c:pt idx="2">
                    <c:v>D-24</c:v>
                  </c:pt>
                  <c:pt idx="3">
                    <c:v>D-21</c:v>
                  </c:pt>
                  <c:pt idx="4">
                    <c:v>D-18</c:v>
                  </c:pt>
                  <c:pt idx="5">
                    <c:v>D-15</c:v>
                  </c:pt>
                  <c:pt idx="6">
                    <c:v>D-12</c:v>
                  </c:pt>
                  <c:pt idx="7">
                    <c:v>D-9</c:v>
                  </c:pt>
                  <c:pt idx="8">
                    <c:v>D-6</c:v>
                  </c:pt>
                  <c:pt idx="9">
                    <c:v>D-3</c:v>
                  </c:pt>
                  <c:pt idx="10">
                    <c:v>Today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</c:v>
                </c:pt>
                <c:pt idx="1">
                  <c:v>4</c:v>
                </c:pt>
                <c:pt idx="2">
                  <c:v>3</c:v>
                </c:pt>
                <c:pt idx="3">
                  <c:v>8</c:v>
                </c:pt>
                <c:pt idx="4">
                  <c:v>12</c:v>
                </c:pt>
                <c:pt idx="5">
                  <c:v>6</c:v>
                </c:pt>
                <c:pt idx="6">
                  <c:v>3</c:v>
                </c:pt>
                <c:pt idx="7">
                  <c:v>5</c:v>
                </c:pt>
                <c:pt idx="8">
                  <c:v>9</c:v>
                </c:pt>
                <c:pt idx="9">
                  <c:v>14</c:v>
                </c:pt>
                <c:pt idx="10">
                  <c:v>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Critical Events</c:v>
                </c:pt>
              </c:strCache>
            </c:strRef>
          </c:tx>
          <c:spPr>
            <a:solidFill>
              <a:srgbClr val="F43F5E"/>
            </a:solidFill>
            <a:ln w="25400" cap="flat">
              <a:solidFill>
                <a:srgbClr val="F43F5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F43F5E"/>
              </a:solidFill>
              <a:ln w="9525" cap="flat">
                <a:solidFill>
                  <a:srgbClr val="F43F5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D-30</c:v>
                  </c:pt>
                  <c:pt idx="1">
                    <c:v>D-27</c:v>
                  </c:pt>
                  <c:pt idx="2">
                    <c:v>D-24</c:v>
                  </c:pt>
                  <c:pt idx="3">
                    <c:v>D-21</c:v>
                  </c:pt>
                  <c:pt idx="4">
                    <c:v>D-18</c:v>
                  </c:pt>
                  <c:pt idx="5">
                    <c:v>D-15</c:v>
                  </c:pt>
                  <c:pt idx="6">
                    <c:v>D-12</c:v>
                  </c:pt>
                  <c:pt idx="7">
                    <c:v>D-9</c:v>
                  </c:pt>
                  <c:pt idx="8">
                    <c:v>D-6</c:v>
                  </c:pt>
                  <c:pt idx="9">
                    <c:v>D-3</c:v>
                  </c:pt>
                  <c:pt idx="10">
                    <c:v>Today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0</c:v>
                </c:pt>
                <c:pt idx="1">
                  <c:v>1</c:v>
                </c:pt>
                <c:pt idx="2">
                  <c:v>0</c:v>
                </c:pt>
                <c:pt idx="3">
                  <c:v>2</c:v>
                </c:pt>
                <c:pt idx="4">
                  <c:v>4</c:v>
                </c:pt>
                <c:pt idx="5">
                  <c:v>1</c:v>
                </c:pt>
                <c:pt idx="6">
                  <c:v>0</c:v>
                </c:pt>
                <c:pt idx="7">
                  <c:v>1</c:v>
                </c:pt>
                <c:pt idx="8">
                  <c:v>3</c:v>
                </c:pt>
                <c:pt idx="9">
                  <c:v>5</c:v>
                </c:pt>
                <c:pt idx="10">
                  <c:v>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Savings ()</c:v>
                </c:pt>
              </c:strCache>
            </c:strRef>
          </c:tx>
          <c:spPr>
            <a:solidFill>
              <a:srgbClr val="00C4A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</c:v>
                </c:pt>
                <c:pt idx="1">
                  <c:v>24</c:v>
                </c:pt>
                <c:pt idx="2">
                  <c:v>31</c:v>
                </c:pt>
                <c:pt idx="3">
                  <c:v>38</c:v>
                </c:pt>
                <c:pt idx="4">
                  <c:v>42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100" b="0" i="0" u="none" strike="noStrike">
                <a:solidFill>
                  <a:srgbClr val="FFFFFF"/>
                </a:solidFill>
                <a:latin typeface="Arial"/>
              </a:rPr>
              <a:t>Revenue &amp; Margin Trend (6 Months)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Gross Revenue ()</c:v>
                </c:pt>
              </c:strCache>
            </c:strRef>
          </c:tx>
          <c:spPr>
            <a:solidFill>
              <a:srgbClr val="1E78D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820</c:v>
                </c:pt>
                <c:pt idx="1">
                  <c:v>874</c:v>
                </c:pt>
                <c:pt idx="2">
                  <c:v>910</c:v>
                </c:pt>
                <c:pt idx="3">
                  <c:v>948</c:v>
                </c:pt>
                <c:pt idx="4">
                  <c:v>992</c:v>
                </c:pt>
                <c:pt idx="5">
                  <c:v>1040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Net Margin ()</c:v>
                </c:pt>
              </c:strCache>
            </c:strRef>
          </c:tx>
          <c:spPr>
            <a:solidFill>
              <a:srgbClr val="00C4A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142</c:v>
                </c:pt>
                <c:pt idx="1">
                  <c:v>158</c:v>
                </c:pt>
                <c:pt idx="2">
                  <c:v>176</c:v>
                </c:pt>
                <c:pt idx="3">
                  <c:v>192</c:v>
                </c:pt>
                <c:pt idx="4">
                  <c:v>214</c:v>
                </c:pt>
                <c:pt idx="5">
                  <c:v>236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394960" cy="68580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E78D9"/>
          </a:solidFill>
          <a:ln w="12700">
            <a:solidFill>
              <a:srgbClr val="1E78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457200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1E7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BITSAUTO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896112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VoIP Intelligence Platform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0040" y="1207008"/>
            <a:ext cx="3931920" cy="0"/>
          </a:xfrm>
          <a:prstGeom prst="line">
            <a:avLst/>
          </a:prstGeom>
          <a:noFill/>
          <a:ln w="12700">
            <a:solidFill>
              <a:srgbClr val="1E78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371600"/>
            <a:ext cx="47548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VoIP Traffic</a:t>
            </a:r>
            <a:endParaRPr lang="en-US" sz="2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Decision-Making</a:t>
            </a:r>
            <a:endParaRPr lang="en-US" sz="2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Tier-1 Telecom Operators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20040" y="324612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20040" y="352044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 ·  UAE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20040" y="390448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Omantel  ·  Oman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20040" y="4288536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PTCL  ·  Pakistan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20040" y="4937760"/>
            <a:ext cx="393192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502920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2025  ·  Confidential — For Decision Maker Review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5669280" y="1600200"/>
            <a:ext cx="2834640" cy="1645920"/>
          </a:xfrm>
          <a:prstGeom prst="rect">
            <a:avLst/>
          </a:prstGeom>
          <a:solidFill>
            <a:srgbClr val="111F3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9280" y="1600200"/>
            <a:ext cx="2834640" cy="64008"/>
          </a:xfrm>
          <a:prstGeom prst="rect">
            <a:avLst/>
          </a:prstGeom>
          <a:solidFill>
            <a:srgbClr val="1E78D9"/>
          </a:solidFill>
          <a:ln w="12700">
            <a:solidFill>
              <a:srgbClr val="1E78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0" y="1764792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7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5669280" y="24688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Call Monitoring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732520" y="1600200"/>
            <a:ext cx="2834640" cy="1645920"/>
          </a:xfrm>
          <a:prstGeom prst="rect">
            <a:avLst/>
          </a:prstGeom>
          <a:solidFill>
            <a:srgbClr val="111F3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732520" y="1600200"/>
            <a:ext cx="2834640" cy="64008"/>
          </a:xfrm>
          <a:prstGeom prst="rect">
            <a:avLst/>
          </a:prstGeom>
          <a:solidFill>
            <a:srgbClr val="00C4A7"/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32520" y="1764792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C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7-Tier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8732520" y="24688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Verdict System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669280" y="3474720"/>
            <a:ext cx="2834640" cy="1645920"/>
          </a:xfrm>
          <a:prstGeom prst="rect">
            <a:avLst/>
          </a:prstGeom>
          <a:solidFill>
            <a:srgbClr val="111F3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69280" y="3474720"/>
            <a:ext cx="283464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0" y="3639312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65–70%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5669280" y="434340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Load Reduction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732520" y="3474720"/>
            <a:ext cx="2834640" cy="1645920"/>
          </a:xfrm>
          <a:prstGeom prst="rect">
            <a:avLst/>
          </a:prstGeom>
          <a:solidFill>
            <a:srgbClr val="111F3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32520" y="3474720"/>
            <a:ext cx="283464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32520" y="3639312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&lt;2s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8732520" y="434340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Response Time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669280" y="644652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E7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vo-ip-watcher--junaid70.replit.app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92608"/>
            <a:ext cx="1522476" cy="25603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92608"/>
            <a:ext cx="15224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THE CHALLENGE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11338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Blind in a High-Stakes Environment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1243584"/>
            <a:ext cx="11338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Telcos handle millions of minutes daily — yet most lack real-time decisioning intelligence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6537960"/>
            <a:ext cx="11365992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58368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BITSAUTO VoIP Intelligence Platform  ·  Confidential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686800" y="6583680"/>
            <a:ext cx="3090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E7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vo-ip-watcher--junaid70.replit.app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11480" y="1783080"/>
            <a:ext cx="3630168" cy="2057400"/>
          </a:xfrm>
          <a:prstGeom prst="rect">
            <a:avLst/>
          </a:prstGeom>
          <a:solidFill>
            <a:srgbClr val="111F3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1783080"/>
            <a:ext cx="3630168" cy="6400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" y="1947672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Carrier Truth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76072" y="2313432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ASR, ACD, PDD and MOS scattered across disconnected systems — no single carrier health picture across your switch fleet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25112" y="1783080"/>
            <a:ext cx="3630168" cy="2057400"/>
          </a:xfrm>
          <a:prstGeom prst="rect">
            <a:avLst/>
          </a:prstGeom>
          <a:solidFill>
            <a:srgbClr val="111F3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25112" y="1783080"/>
            <a:ext cx="3630168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89704" y="1947672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Leakage via Fraud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489704" y="2313432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 &amp; IRSF attacks go undetected for hours. Telecom fraud costs the industry 8.95B/year globally (CFCA 2023)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238744" y="4114800"/>
            <a:ext cx="3630168" cy="2057400"/>
          </a:xfrm>
          <a:prstGeom prst="rect">
            <a:avLst/>
          </a:prstGeom>
          <a:solidFill>
            <a:srgbClr val="111F3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38744" y="4114800"/>
            <a:ext cx="3630168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03336" y="4279392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Routing Decisions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403336" y="4645152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changes made reactively — hours after incidents begin — with no impact simulation before execution on live traffic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480" y="4114800"/>
            <a:ext cx="3630168" cy="2057400"/>
          </a:xfrm>
          <a:prstGeom prst="rect">
            <a:avLst/>
          </a:prstGeom>
          <a:solidFill>
            <a:srgbClr val="111F3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" y="4114800"/>
            <a:ext cx="3630168" cy="64008"/>
          </a:xfrm>
          <a:prstGeom prst="rect">
            <a:avLst/>
          </a:prstGeom>
          <a:solidFill>
            <a:srgbClr val="1E78D9"/>
          </a:solidFill>
          <a:ln w="12700">
            <a:solidFill>
              <a:srgbClr val="1E78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6072" y="4279392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Carrier Degradation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76072" y="4645152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ASR drifts, PDD creeps up — no automated early warning system until SLAs are already breached and revenue lost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325112" y="6446520"/>
            <a:ext cx="3630168" cy="2057400"/>
          </a:xfrm>
          <a:prstGeom prst="rect">
            <a:avLst/>
          </a:prstGeom>
          <a:solidFill>
            <a:srgbClr val="111F3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25112" y="6446520"/>
            <a:ext cx="3630168" cy="64008"/>
          </a:xfrm>
          <a:prstGeom prst="rect">
            <a:avLst/>
          </a:prstGeom>
          <a:solidFill>
            <a:srgbClr val="00C4A7"/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89704" y="6611112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AI Ops Decision Layer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489704" y="6976872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manually correlate health data, stability trends and anomalies — no unified verdict system to trust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238744" y="6446520"/>
            <a:ext cx="3630168" cy="2057400"/>
          </a:xfrm>
          <a:prstGeom prst="rect">
            <a:avLst/>
          </a:prstGeom>
          <a:solidFill>
            <a:srgbClr val="111F3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38744" y="6446520"/>
            <a:ext cx="3630168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03336" y="6611112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Margin Visibility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403336" y="6976872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Cost-per-minute vs. billing-rate gaps invisible in real time — margin erosion only discovered at month-end CDR review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92608"/>
            <a:ext cx="1906524" cy="256032"/>
          </a:xfrm>
          <a:prstGeom prst="rect">
            <a:avLst/>
          </a:prstGeom>
          <a:solidFill>
            <a:srgbClr val="1E78D9"/>
          </a:solidFill>
          <a:ln w="12700">
            <a:solidFill>
              <a:srgbClr val="1E78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92608"/>
            <a:ext cx="19065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PLATFORM OVERVIEW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11338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Ten Operational Modules.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1243584"/>
            <a:ext cx="11338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VoIP intelligence from live monitoring to deterministic AI-assisted decisioning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6537960"/>
            <a:ext cx="11365992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58368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BITSAUTO VoIP Intelligence Platform  ·  Confidential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686800" y="6583680"/>
            <a:ext cx="3090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E7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vo-ip-watcher--junaid70.replit.app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11480" y="1764792"/>
            <a:ext cx="2176272" cy="2103120"/>
          </a:xfrm>
          <a:prstGeom prst="rect">
            <a:avLst/>
          </a:prstGeom>
          <a:solidFill>
            <a:srgbClr val="111F3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1764792"/>
            <a:ext cx="2176272" cy="64008"/>
          </a:xfrm>
          <a:prstGeom prst="rect">
            <a:avLst/>
          </a:prstGeom>
          <a:solidFill>
            <a:srgbClr val="1E78D9"/>
          </a:solidFill>
          <a:ln w="12700">
            <a:solidFill>
              <a:srgbClr val="1E78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892808"/>
            <a:ext cx="21762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📡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02920" y="2423160"/>
            <a:ext cx="19933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NOC Dashboard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2862072"/>
            <a:ext cx="19933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call feed, carrier health grid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779776" y="1764792"/>
            <a:ext cx="2176272" cy="2103120"/>
          </a:xfrm>
          <a:prstGeom prst="rect">
            <a:avLst/>
          </a:prstGeom>
          <a:solidFill>
            <a:srgbClr val="111F3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79776" y="1764792"/>
            <a:ext cx="2176272" cy="64008"/>
          </a:xfrm>
          <a:prstGeom prst="rect">
            <a:avLst/>
          </a:prstGeom>
          <a:solidFill>
            <a:srgbClr val="00C4A7"/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79776" y="1892808"/>
            <a:ext cx="21762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🧠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2871216" y="2423160"/>
            <a:ext cx="19933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Intelligence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871216" y="2862072"/>
            <a:ext cx="19933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Per-carrier ASR/ACD/PDD/MOS scoring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148072" y="1764792"/>
            <a:ext cx="2176272" cy="2103120"/>
          </a:xfrm>
          <a:prstGeom prst="rect">
            <a:avLst/>
          </a:prstGeom>
          <a:solidFill>
            <a:srgbClr val="111F3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48072" y="1764792"/>
            <a:ext cx="2176272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48072" y="1892808"/>
            <a:ext cx="21762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⚖️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239512" y="2423160"/>
            <a:ext cx="19933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Verdict Layer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239512" y="2862072"/>
            <a:ext cx="19933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7-tier deterministic fusion verdict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516368" y="1764792"/>
            <a:ext cx="2176272" cy="2103120"/>
          </a:xfrm>
          <a:prstGeom prst="rect">
            <a:avLst/>
          </a:prstGeom>
          <a:solidFill>
            <a:srgbClr val="111F3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16368" y="1764792"/>
            <a:ext cx="2176272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16368" y="1892808"/>
            <a:ext cx="21762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7607808" y="2423160"/>
            <a:ext cx="19933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Ops Engine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607808" y="2862072"/>
            <a:ext cx="19933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detection, incident correlation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9884664" y="1764792"/>
            <a:ext cx="2176272" cy="2103120"/>
          </a:xfrm>
          <a:prstGeom prst="rect">
            <a:avLst/>
          </a:prstGeom>
          <a:solidFill>
            <a:srgbClr val="111F3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884664" y="1764792"/>
            <a:ext cx="2176272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884664" y="1892808"/>
            <a:ext cx="21762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🔀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9976104" y="2423160"/>
            <a:ext cx="19933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Manager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976104" y="2862072"/>
            <a:ext cx="19933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LCR, routing groups, destination sets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11480" y="4142232"/>
            <a:ext cx="2176272" cy="2103120"/>
          </a:xfrm>
          <a:prstGeom prst="rect">
            <a:avLst/>
          </a:prstGeom>
          <a:solidFill>
            <a:srgbClr val="111F3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11480" y="4142232"/>
            <a:ext cx="2176272" cy="64008"/>
          </a:xfrm>
          <a:prstGeom prst="rect">
            <a:avLst/>
          </a:prstGeom>
          <a:solidFill>
            <a:srgbClr val="1E78D9"/>
          </a:solidFill>
          <a:ln w="12700">
            <a:solidFill>
              <a:srgbClr val="1E78D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4270248"/>
            <a:ext cx="21762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🧪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502920" y="4800600"/>
            <a:ext cx="19933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Simulator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02920" y="5239512"/>
            <a:ext cx="19933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Pre-execution route change simulation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779776" y="4142232"/>
            <a:ext cx="2176272" cy="2103120"/>
          </a:xfrm>
          <a:prstGeom prst="rect">
            <a:avLst/>
          </a:prstGeom>
          <a:solidFill>
            <a:srgbClr val="111F3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79776" y="4142232"/>
            <a:ext cx="2176272" cy="6400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79776" y="4270248"/>
            <a:ext cx="21762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🛡️</a:t>
            </a:r>
            <a:endParaRPr lang="en-US" sz="2400" dirty="0"/>
          </a:p>
        </p:txBody>
      </p:sp>
      <p:sp>
        <p:nvSpPr>
          <p:cNvPr id="43" name="Text 41"/>
          <p:cNvSpPr/>
          <p:nvPr/>
        </p:nvSpPr>
        <p:spPr>
          <a:xfrm>
            <a:off x="2871216" y="4800600"/>
            <a:ext cx="19933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Fraud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871216" y="5239512"/>
            <a:ext cx="19933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FAS/IRSF detection, auto-blacklist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148072" y="4142232"/>
            <a:ext cx="2176272" cy="2103120"/>
          </a:xfrm>
          <a:prstGeom prst="rect">
            <a:avLst/>
          </a:prstGeom>
          <a:solidFill>
            <a:srgbClr val="111F3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148072" y="4142232"/>
            <a:ext cx="2176272" cy="64008"/>
          </a:xfrm>
          <a:prstGeom prst="rect">
            <a:avLst/>
          </a:prstGeom>
          <a:solidFill>
            <a:srgbClr val="00C4A7"/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148072" y="4270248"/>
            <a:ext cx="21762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48" name="Text 46"/>
          <p:cNvSpPr/>
          <p:nvPr/>
        </p:nvSpPr>
        <p:spPr>
          <a:xfrm>
            <a:off x="5239512" y="4800600"/>
            <a:ext cx="19933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BitsEye Analytics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239512" y="5239512"/>
            <a:ext cx="19933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margin, cost optimizer, LCR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7516368" y="4142232"/>
            <a:ext cx="2176272" cy="2103120"/>
          </a:xfrm>
          <a:prstGeom prst="rect">
            <a:avLst/>
          </a:prstGeom>
          <a:solidFill>
            <a:srgbClr val="111F3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516368" y="4142232"/>
            <a:ext cx="2176272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16368" y="4270248"/>
            <a:ext cx="21762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🏗️</a:t>
            </a:r>
            <a:endParaRPr lang="en-US" sz="2400" dirty="0"/>
          </a:p>
        </p:txBody>
      </p:sp>
      <p:sp>
        <p:nvSpPr>
          <p:cNvPr id="53" name="Text 51"/>
          <p:cNvSpPr/>
          <p:nvPr/>
        </p:nvSpPr>
        <p:spPr>
          <a:xfrm>
            <a:off x="7607808" y="4800600"/>
            <a:ext cx="19933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Multi-Switch View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7607808" y="5239512"/>
            <a:ext cx="19933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NOC across 10+ switches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9884664" y="4142232"/>
            <a:ext cx="2176272" cy="2103120"/>
          </a:xfrm>
          <a:prstGeom prst="rect">
            <a:avLst/>
          </a:prstGeom>
          <a:solidFill>
            <a:srgbClr val="111F3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884664" y="4142232"/>
            <a:ext cx="2176272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884664" y="4270248"/>
            <a:ext cx="21762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👥</a:t>
            </a:r>
            <a:endParaRPr lang="en-US" sz="2400" dirty="0"/>
          </a:p>
        </p:txBody>
      </p:sp>
      <p:sp>
        <p:nvSpPr>
          <p:cNvPr id="58" name="Text 56"/>
          <p:cNvSpPr/>
          <p:nvPr/>
        </p:nvSpPr>
        <p:spPr>
          <a:xfrm>
            <a:off x="9976104" y="4800600"/>
            <a:ext cx="19933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RBAC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9976104" y="5239512"/>
            <a:ext cx="19933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access, KAM hierarchy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92608"/>
            <a:ext cx="1714500" cy="256032"/>
          </a:xfrm>
          <a:prstGeom prst="rect">
            <a:avLst/>
          </a:prstGeom>
          <a:solidFill>
            <a:srgbClr val="00C4A7"/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92608"/>
            <a:ext cx="17145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LIVE MONITORING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11338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Traffic Monitoring &amp; KPI Intelligence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1243584"/>
            <a:ext cx="11338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Sub-second visibility into every call, carrier and switch — with live anomaly overlays and push-based alerts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6537960"/>
            <a:ext cx="11365992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58368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BITSAUTO VoIP Intelligence Platform  ·  Confidential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686800" y="6583680"/>
            <a:ext cx="3090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E7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vo-ip-watcher--junaid70.replit.app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11480" y="1719072"/>
            <a:ext cx="2651760" cy="1417320"/>
          </a:xfrm>
          <a:prstGeom prst="rect">
            <a:avLst/>
          </a:prstGeom>
          <a:solidFill>
            <a:srgbClr val="111F3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1719072"/>
            <a:ext cx="265176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883664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99.97%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11480" y="25603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Uptime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64408" y="1719072"/>
            <a:ext cx="2651760" cy="1417320"/>
          </a:xfrm>
          <a:prstGeom prst="rect">
            <a:avLst/>
          </a:prstGeom>
          <a:solidFill>
            <a:srgbClr val="111F3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64408" y="1719072"/>
            <a:ext cx="2651760" cy="64008"/>
          </a:xfrm>
          <a:prstGeom prst="rect">
            <a:avLst/>
          </a:prstGeom>
          <a:solidFill>
            <a:srgbClr val="00C4A7"/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64408" y="1883664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C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&lt;2s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3264408" y="25603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Latency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17336" y="1719072"/>
            <a:ext cx="2651760" cy="1417320"/>
          </a:xfrm>
          <a:prstGeom prst="rect">
            <a:avLst/>
          </a:prstGeom>
          <a:solidFill>
            <a:srgbClr val="111F3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17336" y="1719072"/>
            <a:ext cx="2651760" cy="64008"/>
          </a:xfrm>
          <a:prstGeom prst="rect">
            <a:avLst/>
          </a:prstGeom>
          <a:solidFill>
            <a:srgbClr val="1E78D9"/>
          </a:solidFill>
          <a:ln w="12700">
            <a:solidFill>
              <a:srgbClr val="1E78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17336" y="1883664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7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117336" y="25603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Monitored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970264" y="1719072"/>
            <a:ext cx="2651760" cy="1417320"/>
          </a:xfrm>
          <a:prstGeom prst="rect">
            <a:avLst/>
          </a:prstGeom>
          <a:solidFill>
            <a:srgbClr val="111F3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970264" y="1719072"/>
            <a:ext cx="265176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70264" y="1883664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8970264" y="25603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Per Carrier</a:t>
            </a:r>
            <a:endParaRPr lang="en-US" sz="1000" dirty="0"/>
          </a:p>
        </p:txBody>
      </p:sp>
      <p:graphicFrame>
        <p:nvGraphicFramePr>
          <p:cNvPr id="26" name="Chart 0" descr=""/>
          <p:cNvGraphicFramePr/>
          <p:nvPr/>
        </p:nvGraphicFramePr>
        <p:xfrm>
          <a:off x="411480" y="3291840"/>
          <a:ext cx="68580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7" name="Text 24"/>
          <p:cNvSpPr/>
          <p:nvPr/>
        </p:nvSpPr>
        <p:spPr>
          <a:xfrm>
            <a:off x="7498080" y="333756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Your NOC Sees — Live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7498080" y="3840480"/>
            <a:ext cx="82296" cy="82296"/>
          </a:xfrm>
          <a:prstGeom prst="ellipse">
            <a:avLst/>
          </a:prstGeom>
          <a:solidFill>
            <a:srgbClr val="00C4A7"/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653528" y="37673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call grid — carrier, duration, codec, route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7498080" y="4279392"/>
            <a:ext cx="82296" cy="82296"/>
          </a:xfrm>
          <a:prstGeom prst="ellipse">
            <a:avLst/>
          </a:prstGeom>
          <a:solidFill>
            <a:srgbClr val="00C4A7"/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653528" y="4206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 per active call (ITU-T P.800 standard)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7498080" y="4718304"/>
            <a:ext cx="82296" cy="82296"/>
          </a:xfrm>
          <a:prstGeom prst="ellipse">
            <a:avLst/>
          </a:prstGeom>
          <a:solidFill>
            <a:srgbClr val="00C4A7"/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653528" y="46451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PDD monitoring vs per-carrier baseline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7498080" y="5157216"/>
            <a:ext cx="82296" cy="82296"/>
          </a:xfrm>
          <a:prstGeom prst="ellipse">
            <a:avLst/>
          </a:prstGeom>
          <a:solidFill>
            <a:srgbClr val="00C4A7"/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653528" y="50840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ASR trending — 15min/1hr/24hr windows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7498080" y="5596128"/>
            <a:ext cx="82296" cy="82296"/>
          </a:xfrm>
          <a:prstGeom prst="ellipse">
            <a:avLst/>
          </a:prstGeom>
          <a:solidFill>
            <a:srgbClr val="00C4A7"/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653528" y="552297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push — no polling, no refresh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7498080" y="6035040"/>
            <a:ext cx="82296" cy="82296"/>
          </a:xfrm>
          <a:prstGeom prst="ellipse">
            <a:avLst/>
          </a:prstGeom>
          <a:solidFill>
            <a:srgbClr val="00C4A7"/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653528" y="596188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NOC view for on-call engineers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92608"/>
            <a:ext cx="2194560" cy="2560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9260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ENTITY VERDICT LAYER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11338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Platform's Unified Decision Authority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1243584"/>
            <a:ext cx="11338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3-signal fusion — CI health + carrier scoring + AI Ops events → one authoritative verdict per carrier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6537960"/>
            <a:ext cx="11365992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58368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BITSAUTO VoIP Intelligence Platform  ·  Confidential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686800" y="6583680"/>
            <a:ext cx="3090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E7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vo-ip-watcher--junaid70.replit.app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11480" y="1755648"/>
            <a:ext cx="2834640" cy="1353312"/>
          </a:xfrm>
          <a:prstGeom prst="rect">
            <a:avLst/>
          </a:prstGeom>
          <a:solidFill>
            <a:srgbClr val="111F3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1755648"/>
            <a:ext cx="2834640" cy="64008"/>
          </a:xfrm>
          <a:prstGeom prst="rect">
            <a:avLst/>
          </a:prstGeom>
          <a:solidFill>
            <a:srgbClr val="1E78D9"/>
          </a:solidFill>
          <a:ln w="12700">
            <a:solidFill>
              <a:srgbClr val="1E78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1892808"/>
            <a:ext cx="25237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Health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66928" y="2240280"/>
            <a:ext cx="25237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ASR/ACD/PDD/MOS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confidence via call volume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3291840"/>
            <a:ext cx="2834640" cy="1353312"/>
          </a:xfrm>
          <a:prstGeom prst="rect">
            <a:avLst/>
          </a:prstGeom>
          <a:solidFill>
            <a:srgbClr val="111F3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3291840"/>
            <a:ext cx="2834640" cy="64008"/>
          </a:xfrm>
          <a:prstGeom prst="rect">
            <a:avLst/>
          </a:prstGeom>
          <a:solidFill>
            <a:srgbClr val="00C4A7"/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3429000"/>
            <a:ext cx="25237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Scoring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66928" y="3776472"/>
            <a:ext cx="25237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score 0–100 (CDR samples)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trend with delta tracking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4828032"/>
            <a:ext cx="2834640" cy="1353312"/>
          </a:xfrm>
          <a:prstGeom prst="rect">
            <a:avLst/>
          </a:prstGeom>
          <a:solidFill>
            <a:srgbClr val="111F3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4828032"/>
            <a:ext cx="283464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4965192"/>
            <a:ext cx="25237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Ops Events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66928" y="5312664"/>
            <a:ext cx="25237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events — 48h window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classification &amp; correlation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73552" y="1755648"/>
            <a:ext cx="411480" cy="4608576"/>
          </a:xfrm>
          <a:prstGeom prst="rect">
            <a:avLst/>
          </a:prstGeom>
          <a:solidFill>
            <a:srgbClr val="1621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46120" y="3840480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3886200" y="166420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Tiers — 7 States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886200" y="2029968"/>
            <a:ext cx="1005840" cy="493776"/>
          </a:xfrm>
          <a:prstGeom prst="rect">
            <a:avLst/>
          </a:prstGeom>
          <a:solidFill>
            <a:srgbClr val="000000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86200" y="2029968"/>
            <a:ext cx="1005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010912" y="2029968"/>
            <a:ext cx="2743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 detected or 3 RED signals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886200" y="2660904"/>
            <a:ext cx="1005840" cy="493776"/>
          </a:xfrm>
          <a:prstGeom prst="rect">
            <a:avLst/>
          </a:prstGeom>
          <a:solidFill>
            <a:srgbClr val="000000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86200" y="2660904"/>
            <a:ext cx="1005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DEGRADED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010912" y="2660904"/>
            <a:ext cx="2743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 RED, medium+ confidence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886200" y="3291840"/>
            <a:ext cx="1005840" cy="493776"/>
          </a:xfrm>
          <a:prstGeom prst="rect">
            <a:avLst/>
          </a:prstGeom>
          <a:solidFill>
            <a:srgbClr val="0000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86200" y="3291840"/>
            <a:ext cx="1005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010912" y="3291840"/>
            <a:ext cx="2743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stability decline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886200" y="3922776"/>
            <a:ext cx="1005840" cy="493776"/>
          </a:xfrm>
          <a:prstGeom prst="rect">
            <a:avLst/>
          </a:prstGeom>
          <a:solidFill>
            <a:srgbClr val="000000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86200" y="3922776"/>
            <a:ext cx="1005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010912" y="3922776"/>
            <a:ext cx="2743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conflict, low confidence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886200" y="4553712"/>
            <a:ext cx="1005840" cy="493776"/>
          </a:xfrm>
          <a:prstGeom prst="rect">
            <a:avLst/>
          </a:prstGeom>
          <a:solidFill>
            <a:srgbClr val="00000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86200" y="4553712"/>
            <a:ext cx="1005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5010912" y="4553712"/>
            <a:ext cx="2743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 GREEN, partial confidence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886200" y="5184648"/>
            <a:ext cx="1005840" cy="493776"/>
          </a:xfrm>
          <a:prstGeom prst="rect">
            <a:avLst/>
          </a:prstGeom>
          <a:solidFill>
            <a:srgbClr val="00000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86200" y="5184648"/>
            <a:ext cx="1005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5010912" y="5184648"/>
            <a:ext cx="2743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GREEN, high confidence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886200" y="5815584"/>
            <a:ext cx="1005840" cy="493776"/>
          </a:xfrm>
          <a:prstGeom prst="rect">
            <a:avLst/>
          </a:prstGeom>
          <a:solidFill>
            <a:srgbClr val="000000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886200" y="5815584"/>
            <a:ext cx="1005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UNSCORED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5010912" y="5815584"/>
            <a:ext cx="2743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carrier, no baseline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8046720" y="166420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046720" y="2176272"/>
            <a:ext cx="82296" cy="8229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202168" y="21031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averaging — critical signals cannot be diluted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8046720" y="2880360"/>
            <a:ext cx="82296" cy="8229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202168" y="28072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 override: fraud bypasses all scoring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8046720" y="3584448"/>
            <a:ext cx="82296" cy="8229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202168" y="351129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 prevents false calm from noise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8046720" y="4288536"/>
            <a:ext cx="82296" cy="8229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202168" y="421538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verdict shows explainable rules used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8046720" y="4992624"/>
            <a:ext cx="82296" cy="8229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202168" y="49194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Architecture-locked: no system bypasses this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8046720" y="5696712"/>
            <a:ext cx="82296" cy="8229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202168" y="56235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automation — operator confirms actions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92608"/>
            <a:ext cx="2194560" cy="256032"/>
          </a:xfrm>
          <a:prstGeom prst="rect">
            <a:avLst/>
          </a:prstGeom>
          <a:solidFill>
            <a:srgbClr val="00C4A7"/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9260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CARRIER INTELLIGENCE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11338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Health Scoring &amp; Stability Index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1243584"/>
            <a:ext cx="11338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0–100 scoring per carrier — 500+ CDR samples = HIGH confidence, auto-refresh every 15 minutes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6537960"/>
            <a:ext cx="11365992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58368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BITSAUTO VoIP Intelligence Platform  ·  Confidential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686800" y="6583680"/>
            <a:ext cx="3090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E7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vo-ip-watcher--junaid70.replit.app</a:t>
            </a:r>
            <a:endParaRPr lang="en-US" sz="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719072"/>
          <a:ext cx="7178040" cy="4480560"/>
        </p:xfrm>
        <a:graphic>
          <a:graphicData uri="http://schemas.openxmlformats.org/drawingml/2006/table">
            <a:tbl>
              <a:tblPr/>
              <a:tblGrid>
                <a:gridCol w="2514600"/>
                <a:gridCol w="685800"/>
                <a:gridCol w="1005840"/>
                <a:gridCol w="777240"/>
                <a:gridCol w="777240"/>
                <a:gridCol w="777240"/>
                <a:gridCol w="685800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Carrier / Trunk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 48h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Callntalk (DU Link)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TALK-SIP (Omantel)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PTCL-A1 Trunk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DU-SIP Primary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DEGRADED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YOU-Telecom (Test)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7.2s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Chart 0" descr=""/>
          <p:cNvGraphicFramePr/>
          <p:nvPr/>
        </p:nvGraphicFramePr>
        <p:xfrm>
          <a:off x="7818120" y="1755648"/>
          <a:ext cx="39776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Text 8"/>
          <p:cNvSpPr/>
          <p:nvPr/>
        </p:nvSpPr>
        <p:spPr>
          <a:xfrm>
            <a:off x="411480" y="6291072"/>
            <a:ext cx="113659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Carriers scoring &lt; 40 are auto-flagged for operator review. Score updates every 15 minutes from live CDR data.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92608"/>
            <a:ext cx="1810512" cy="25603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92608"/>
            <a:ext cx="18105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SECURITY &amp; FRAUD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11338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FAS/IRSF Detection &amp; Automated Fraud Protection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1243584"/>
            <a:ext cx="11338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fraud costs the industry 8.95B annually. Bitsauto detects FAS patterns in real time and issues immediate alerts.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6537960"/>
            <a:ext cx="11365992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58368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BITSAUTO VoIP Intelligence Platform  ·  Confidential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686800" y="6583680"/>
            <a:ext cx="3090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E7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vo-ip-watcher--junaid70.replit.app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11480" y="1719072"/>
            <a:ext cx="3630168" cy="1508760"/>
          </a:xfrm>
          <a:prstGeom prst="rect">
            <a:avLst/>
          </a:prstGeom>
          <a:solidFill>
            <a:srgbClr val="111F3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1719072"/>
            <a:ext cx="3630168" cy="6400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883664"/>
            <a:ext cx="36301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8.95B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548640" y="2606040"/>
            <a:ext cx="3355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telecom fraud loss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(CFCA 2023)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325112" y="1719072"/>
            <a:ext cx="3630168" cy="1508760"/>
          </a:xfrm>
          <a:prstGeom prst="rect">
            <a:avLst/>
          </a:prstGeom>
          <a:solidFill>
            <a:srgbClr val="111F3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25112" y="1719072"/>
            <a:ext cx="3630168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25112" y="1883664"/>
            <a:ext cx="36301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847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462272" y="2606040"/>
            <a:ext cx="3355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 events detected &amp; blocked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(sample 90-day window)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238744" y="1719072"/>
            <a:ext cx="3630168" cy="1508760"/>
          </a:xfrm>
          <a:prstGeom prst="rect">
            <a:avLst/>
          </a:prstGeom>
          <a:solidFill>
            <a:srgbClr val="111F3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38744" y="1719072"/>
            <a:ext cx="3630168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38744" y="1883664"/>
            <a:ext cx="36301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~80K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8375904" y="2606040"/>
            <a:ext cx="3355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revenue protected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(same 90-day window)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11480" y="3429000"/>
            <a:ext cx="5577840" cy="1463040"/>
          </a:xfrm>
          <a:prstGeom prst="rect">
            <a:avLst/>
          </a:prstGeom>
          <a:solidFill>
            <a:srgbClr val="111F3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" y="3429000"/>
            <a:ext cx="5577840" cy="6400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566160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 Detection Logic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76072" y="4050792"/>
            <a:ext cx="73152" cy="73152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397764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ASR &gt; 55% + ACD &lt; 30s → CRITICAL verdict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76072" y="4325112"/>
            <a:ext cx="73152" cy="73152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425196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ASR &gt; 45% + ACD &lt; 45s → MEDIUM warning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76072" y="4599432"/>
            <a:ext cx="73152" cy="73152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452628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0: FAS overrides all other signals immediately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336792" y="3429000"/>
            <a:ext cx="5577840" cy="1463040"/>
          </a:xfrm>
          <a:prstGeom prst="rect">
            <a:avLst/>
          </a:prstGeom>
          <a:solidFill>
            <a:srgbClr val="111F3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36792" y="3429000"/>
            <a:ext cx="557784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73952" y="3566160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IRSF &amp; Premium Rate Protection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501384" y="4050792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56832" y="397764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rate number pattern detection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501384" y="4325112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56832" y="425196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route abuse monitoring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501384" y="4599432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56832" y="452628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 alerting on unexpected volume bursts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11480" y="5029200"/>
            <a:ext cx="5577840" cy="1463040"/>
          </a:xfrm>
          <a:prstGeom prst="rect">
            <a:avLst/>
          </a:prstGeom>
          <a:solidFill>
            <a:srgbClr val="111F3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11480" y="5029200"/>
            <a:ext cx="557784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5166360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Auto-Blacklist Engine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76072" y="5650992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1520" y="557784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auto-flagged on sustained FAS pattern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76072" y="5925312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31520" y="585216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approval required before any action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76072" y="6199632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31520" y="612648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 of all blacklist operations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336792" y="5029200"/>
            <a:ext cx="5577840" cy="1463040"/>
          </a:xfrm>
          <a:prstGeom prst="rect">
            <a:avLst/>
          </a:prstGeom>
          <a:solidFill>
            <a:srgbClr val="111F3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336792" y="5029200"/>
            <a:ext cx="5577840" cy="64008"/>
          </a:xfrm>
          <a:prstGeom prst="rect">
            <a:avLst/>
          </a:prstGeom>
          <a:solidFill>
            <a:srgbClr val="1E78D9"/>
          </a:solidFill>
          <a:ln w="12700">
            <a:solidFill>
              <a:srgbClr val="1E78D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73952" y="5166360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OPTIONS Monitor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501384" y="5650992"/>
            <a:ext cx="73152" cy="73152"/>
          </a:xfrm>
          <a:prstGeom prst="ellipse">
            <a:avLst/>
          </a:prstGeom>
          <a:solidFill>
            <a:srgbClr val="1E78D9"/>
          </a:solidFill>
          <a:ln w="12700">
            <a:solidFill>
              <a:srgbClr val="1E78D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656832" y="557784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SIP trunk availability heartbeat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6501384" y="5925312"/>
            <a:ext cx="73152" cy="73152"/>
          </a:xfrm>
          <a:prstGeom prst="ellipse">
            <a:avLst/>
          </a:prstGeom>
          <a:solidFill>
            <a:srgbClr val="1E78D9"/>
          </a:solidFill>
          <a:ln w="12700">
            <a:solidFill>
              <a:srgbClr val="1E78D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656832" y="585216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 failure alerts with trunk history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501384" y="6199632"/>
            <a:ext cx="73152" cy="73152"/>
          </a:xfrm>
          <a:prstGeom prst="ellipse">
            <a:avLst/>
          </a:prstGeom>
          <a:solidFill>
            <a:srgbClr val="1E78D9"/>
          </a:solidFill>
          <a:ln w="12700">
            <a:solidFill>
              <a:srgbClr val="1E78D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656832" y="612648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Per-trunk uptime trend &amp; downtime log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92608"/>
            <a:ext cx="2194560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9260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ROUTING INTELLIGENCE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11338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Routing Management &amp; Pre-Execution Simulation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1243584"/>
            <a:ext cx="11338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Three-layer architecture: Execute → Decide → Project — no more blind route changes on live traffic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6537960"/>
            <a:ext cx="11365992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58368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BITSAUTO VoIP Intelligence Platform  ·  Confidential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686800" y="6583680"/>
            <a:ext cx="3090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E7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vo-ip-watcher--junaid70.replit.app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11480" y="1764792"/>
            <a:ext cx="3657600" cy="4617720"/>
          </a:xfrm>
          <a:prstGeom prst="rect">
            <a:avLst/>
          </a:prstGeom>
          <a:solidFill>
            <a:srgbClr val="111F3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1764792"/>
            <a:ext cx="3657600" cy="64008"/>
          </a:xfrm>
          <a:prstGeom prst="rect">
            <a:avLst/>
          </a:prstGeom>
          <a:solidFill>
            <a:srgbClr val="1E78D9"/>
          </a:solidFill>
          <a:ln w="12700">
            <a:solidFill>
              <a:srgbClr val="1E78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90195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⚙️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02920" y="24688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Manager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" y="285292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Layer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" y="3182112"/>
            <a:ext cx="329184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273552"/>
            <a:ext cx="338328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Sippy routing group management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 sets, vendor connections, QBR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Least-Cost Routing (LCR) table management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rules with active/inactive toggle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12+ routing groups managed live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94360" y="5486400"/>
            <a:ext cx="3291840" cy="594360"/>
          </a:xfrm>
          <a:prstGeom prst="rect">
            <a:avLst/>
          </a:prstGeom>
          <a:solidFill>
            <a:srgbClr val="000000"/>
          </a:solidFill>
          <a:ln w="12700">
            <a:solidFill>
              <a:srgbClr val="1E78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548640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7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LCR Control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343400" y="1764792"/>
            <a:ext cx="3657600" cy="4617720"/>
          </a:xfrm>
          <a:prstGeom prst="rect">
            <a:avLst/>
          </a:prstGeom>
          <a:solidFill>
            <a:srgbClr val="111F3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43400" y="1764792"/>
            <a:ext cx="365760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43400" y="190195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🧩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4434840" y="24688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Simulator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434840" y="285292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Layer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26280" y="3182112"/>
            <a:ext cx="329184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80560" y="3273552"/>
            <a:ext cx="338328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routing policy changes pre-apply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Multi-carrier scenario comparison engine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detection in priority chains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Pre-production policy validation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blind changes executed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26280" y="5486400"/>
            <a:ext cx="3291840" cy="594360"/>
          </a:xfrm>
          <a:prstGeom prst="rect">
            <a:avLst/>
          </a:prstGeom>
          <a:solidFill>
            <a:srgbClr val="00000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26280" y="548640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Blind Changes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275320" y="1764792"/>
            <a:ext cx="3657600" cy="4617720"/>
          </a:xfrm>
          <a:prstGeom prst="rect">
            <a:avLst/>
          </a:prstGeom>
          <a:solidFill>
            <a:srgbClr val="111F3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75320" y="1764792"/>
            <a:ext cx="3657600" cy="64008"/>
          </a:xfrm>
          <a:prstGeom prst="rect">
            <a:avLst/>
          </a:prstGeom>
          <a:solidFill>
            <a:srgbClr val="00C4A7"/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75320" y="190195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🔬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8366760" y="24688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Simulator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366760" y="285292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 Layer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458200" y="3182112"/>
            <a:ext cx="329184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12480" y="3273552"/>
            <a:ext cx="338328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/ swap / drain-to-backup simulation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delta per impacted carrier shown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redistribution modelling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+ AI Ops health overlay per entry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Pre-execution risk scoring built-in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458200" y="5486400"/>
            <a:ext cx="3291840" cy="5943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58200" y="548640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Pre-Execution Risk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92608"/>
            <a:ext cx="1522476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92608"/>
            <a:ext cx="15224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AI OPS ENGINE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11338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Operations &amp; Anomaly Intelligence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1243584"/>
            <a:ext cx="11338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Deterministic, explainable anomaly detection — no black boxes — built for 24/7 telecom NOC operations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6537960"/>
            <a:ext cx="11365992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58368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BITSAUTO VoIP Intelligence Platform  ·  Confidential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686800" y="6583680"/>
            <a:ext cx="3090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E7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vo-ip-watcher--junaid70.replit.app</a:t>
            </a:r>
            <a:endParaRPr lang="en-US" sz="7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411480" y="1764792"/>
          <a:ext cx="68580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7498080" y="1764792"/>
            <a:ext cx="2057400" cy="1463040"/>
          </a:xfrm>
          <a:prstGeom prst="rect">
            <a:avLst/>
          </a:prstGeom>
          <a:solidFill>
            <a:srgbClr val="111F3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498080" y="1764792"/>
            <a:ext cx="20574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589520" y="1901952"/>
            <a:ext cx="1874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7589520" y="2267712"/>
            <a:ext cx="18745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Baseline-aware deviation per carrier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routing group — no false positives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9738360" y="1764792"/>
            <a:ext cx="2057400" cy="1463040"/>
          </a:xfrm>
          <a:prstGeom prst="rect">
            <a:avLst/>
          </a:prstGeom>
          <a:solidFill>
            <a:srgbClr val="111F3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738360" y="1764792"/>
            <a:ext cx="20574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29800" y="1901952"/>
            <a:ext cx="1874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Correlation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9829800" y="2267712"/>
            <a:ext cx="18745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related events into named incidents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severity and timeline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498080" y="3364992"/>
            <a:ext cx="2057400" cy="1463040"/>
          </a:xfrm>
          <a:prstGeom prst="rect">
            <a:avLst/>
          </a:prstGeom>
          <a:solidFill>
            <a:srgbClr val="111F3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498080" y="3364992"/>
            <a:ext cx="20574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589520" y="3502152"/>
            <a:ext cx="1874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Classification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7589520" y="3867912"/>
            <a:ext cx="18745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ROUTING_FAILURE / VENDOR_DEGRADATION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EXECUTION_LATENCY_HIGH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9738360" y="3364992"/>
            <a:ext cx="2057400" cy="1463040"/>
          </a:xfrm>
          <a:prstGeom prst="rect">
            <a:avLst/>
          </a:prstGeom>
          <a:solidFill>
            <a:srgbClr val="111F3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738360" y="3364992"/>
            <a:ext cx="20574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829800" y="3502152"/>
            <a:ext cx="1874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Recommendations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9829800" y="3867912"/>
            <a:ext cx="18745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operator suggestions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urgency and confidence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7498080" y="4965192"/>
            <a:ext cx="2057400" cy="1463040"/>
          </a:xfrm>
          <a:prstGeom prst="rect">
            <a:avLst/>
          </a:prstGeom>
          <a:solidFill>
            <a:srgbClr val="111F3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498080" y="4965192"/>
            <a:ext cx="20574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589520" y="5102352"/>
            <a:ext cx="1874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Query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7589520" y="5468112"/>
            <a:ext cx="18745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about your network in plain English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instant structured answers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9738360" y="4965192"/>
            <a:ext cx="2057400" cy="1463040"/>
          </a:xfrm>
          <a:prstGeom prst="rect">
            <a:avLst/>
          </a:prstGeom>
          <a:solidFill>
            <a:srgbClr val="111F3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9738360" y="4965192"/>
            <a:ext cx="20574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829800" y="5102352"/>
            <a:ext cx="1874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Overlay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9829800" y="5468112"/>
            <a:ext cx="18745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CI + AI Ops fusion view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false authority — display only</a:t>
            </a:r>
            <a:endParaRPr lang="en-US" sz="850" dirty="0"/>
          </a:p>
        </p:txBody>
      </p:sp>
      <p:graphicFrame>
        <p:nvGraphicFramePr>
          <p:cNvPr id="35" name="Chart 1" descr=""/>
          <p:cNvGraphicFramePr/>
          <p:nvPr/>
        </p:nvGraphicFramePr>
        <p:xfrm>
          <a:off x="411480" y="4919472"/>
          <a:ext cx="6858000" cy="1417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6" name="Text 32"/>
          <p:cNvSpPr/>
          <p:nvPr/>
        </p:nvSpPr>
        <p:spPr>
          <a:xfrm>
            <a:off x="411480" y="480060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savings from AI-recommended route optimisations (/month)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92608"/>
            <a:ext cx="1714500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92608"/>
            <a:ext cx="17145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ANALYTICS &amp; ROI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11338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Analytics &amp; Cost Optimisation Engine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1243584"/>
            <a:ext cx="11338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CDR to margin intelligence — BitsEye gives operators real-time P&amp;L visibility per carrier, per route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6537960"/>
            <a:ext cx="11365992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58368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BITSAUTO VoIP Intelligence Platform  ·  Confidential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686800" y="6583680"/>
            <a:ext cx="3090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E7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vo-ip-watcher--junaid70.replit.app</a:t>
            </a:r>
            <a:endParaRPr lang="en-US" sz="7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411480" y="1764792"/>
          <a:ext cx="71323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7818120" y="1764792"/>
            <a:ext cx="1965960" cy="2148840"/>
          </a:xfrm>
          <a:prstGeom prst="rect">
            <a:avLst/>
          </a:prstGeom>
          <a:solidFill>
            <a:srgbClr val="111F3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818120" y="1764792"/>
            <a:ext cx="196596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818120" y="1947672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40K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7909560" y="2679192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LCR savings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10M mins/month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10012680" y="1764792"/>
            <a:ext cx="1965960" cy="2148840"/>
          </a:xfrm>
          <a:prstGeom prst="rect">
            <a:avLst/>
          </a:prstGeom>
          <a:solidFill>
            <a:srgbClr val="111F3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0012680" y="1764792"/>
            <a:ext cx="1965960" cy="64008"/>
          </a:xfrm>
          <a:prstGeom prst="rect">
            <a:avLst/>
          </a:prstGeom>
          <a:solidFill>
            <a:srgbClr val="00C4A7"/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012680" y="1947672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17.8%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10104120" y="2679192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uplift after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optimiser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7818120" y="4142232"/>
            <a:ext cx="1965960" cy="2148840"/>
          </a:xfrm>
          <a:prstGeom prst="rect">
            <a:avLst/>
          </a:prstGeom>
          <a:solidFill>
            <a:srgbClr val="111F3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818120" y="4142232"/>
            <a:ext cx="196596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818120" y="4325112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80K</a:t>
            </a:r>
            <a:endParaRPr lang="en-US" sz="2800" dirty="0"/>
          </a:p>
        </p:txBody>
      </p:sp>
      <p:sp>
        <p:nvSpPr>
          <p:cNvPr id="22" name="Text 19"/>
          <p:cNvSpPr/>
          <p:nvPr/>
        </p:nvSpPr>
        <p:spPr>
          <a:xfrm>
            <a:off x="7909560" y="5056632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revenue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(90 days)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10012680" y="4142232"/>
            <a:ext cx="1965960" cy="2148840"/>
          </a:xfrm>
          <a:prstGeom prst="rect">
            <a:avLst/>
          </a:prstGeom>
          <a:solidFill>
            <a:srgbClr val="111F3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0012680" y="4142232"/>
            <a:ext cx="1965960" cy="64008"/>
          </a:xfrm>
          <a:prstGeom prst="rect">
            <a:avLst/>
          </a:prstGeom>
          <a:solidFill>
            <a:srgbClr val="1E78D9"/>
          </a:solidFill>
          <a:ln w="12700">
            <a:solidFill>
              <a:srgbClr val="1E78D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0012680" y="4325112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7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3.2×</a:t>
            </a:r>
            <a:endParaRPr lang="en-US" sz="2800" dirty="0"/>
          </a:p>
        </p:txBody>
      </p:sp>
      <p:sp>
        <p:nvSpPr>
          <p:cNvPr id="26" name="Text 23"/>
          <p:cNvSpPr/>
          <p:nvPr/>
        </p:nvSpPr>
        <p:spPr>
          <a:xfrm>
            <a:off x="10104120" y="5056632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vs.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ops cost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411480" y="5120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Modules Included: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411480" y="5486400"/>
            <a:ext cx="22128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11480" y="5486400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BitsEye Drill-Down Analytics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2816352" y="5486400"/>
            <a:ext cx="22128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816352" y="5486400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Margin Dashboard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5221224" y="5486400"/>
            <a:ext cx="22128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221224" y="5486400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Optimisation Engine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411480" y="5989320"/>
            <a:ext cx="22128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11480" y="5989320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LCR Analyser &amp; Rate Cards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2816352" y="5989320"/>
            <a:ext cx="22128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2816352" y="5989320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Distribution Heatmap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5221224" y="5989320"/>
            <a:ext cx="22128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221224" y="5989320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CDR Trend Analysis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92608"/>
            <a:ext cx="1330452" cy="256032"/>
          </a:xfrm>
          <a:prstGeom prst="rect">
            <a:avLst/>
          </a:prstGeom>
          <a:solidFill>
            <a:srgbClr val="1E78D9"/>
          </a:solidFill>
          <a:ln w="12700">
            <a:solidFill>
              <a:srgbClr val="1E78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92608"/>
            <a:ext cx="13304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PERFORMANCE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11338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Performance &amp; Architecture at Scale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1243584"/>
            <a:ext cx="11338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for 24/7 production operation against live Sippy softswitches — safe, read-only by design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6537960"/>
            <a:ext cx="11365992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58368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BITSAUTO VoIP Intelligence Platform  ·  Confidential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686800" y="6583680"/>
            <a:ext cx="3090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E7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vo-ip-watcher--junaid70.replit.app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11480" y="1719072"/>
            <a:ext cx="3630168" cy="2240280"/>
          </a:xfrm>
          <a:prstGeom prst="rect">
            <a:avLst/>
          </a:prstGeom>
          <a:solidFill>
            <a:srgbClr val="111F3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1719072"/>
            <a:ext cx="3630168" cy="64008"/>
          </a:xfrm>
          <a:prstGeom prst="rect">
            <a:avLst/>
          </a:prstGeom>
          <a:solidFill>
            <a:srgbClr val="00C4A7"/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883664"/>
            <a:ext cx="363016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C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65–70%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594360" y="2743200"/>
            <a:ext cx="326440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Sippy XML-RPC load reduction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polling baseline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25112" y="1719072"/>
            <a:ext cx="3630168" cy="2240280"/>
          </a:xfrm>
          <a:prstGeom prst="rect">
            <a:avLst/>
          </a:prstGeom>
          <a:solidFill>
            <a:srgbClr val="111F3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25112" y="1719072"/>
            <a:ext cx="3630168" cy="64008"/>
          </a:xfrm>
          <a:prstGeom prst="rect">
            <a:avLst/>
          </a:prstGeom>
          <a:solidFill>
            <a:srgbClr val="1E78D9"/>
          </a:solidFill>
          <a:ln w="12700">
            <a:solidFill>
              <a:srgbClr val="1E78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25112" y="1883664"/>
            <a:ext cx="363016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7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&lt;2s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4507992" y="2743200"/>
            <a:ext cx="326440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alert latency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detection to NOC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238744" y="1719072"/>
            <a:ext cx="3630168" cy="2240280"/>
          </a:xfrm>
          <a:prstGeom prst="rect">
            <a:avLst/>
          </a:prstGeom>
          <a:solidFill>
            <a:srgbClr val="111F3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38744" y="1719072"/>
            <a:ext cx="3630168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38744" y="1883664"/>
            <a:ext cx="363016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99.97%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8421624" y="2743200"/>
            <a:ext cx="326440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uptime SLA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90-day measure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480" y="4187952"/>
            <a:ext cx="3630168" cy="2240280"/>
          </a:xfrm>
          <a:prstGeom prst="rect">
            <a:avLst/>
          </a:prstGeom>
          <a:solidFill>
            <a:srgbClr val="111F3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" y="4187952"/>
            <a:ext cx="3630168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4352544"/>
            <a:ext cx="363016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</a:t>
            </a:r>
            <a:endParaRPr lang="en-US" sz="4000" dirty="0"/>
          </a:p>
        </p:txBody>
      </p:sp>
      <p:sp>
        <p:nvSpPr>
          <p:cNvPr id="25" name="Text 23"/>
          <p:cNvSpPr/>
          <p:nvPr/>
        </p:nvSpPr>
        <p:spPr>
          <a:xfrm>
            <a:off x="594360" y="5212080"/>
            <a:ext cx="326440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Simultaneous switches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monitorable in Multi-Switch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325112" y="4187952"/>
            <a:ext cx="3630168" cy="2240280"/>
          </a:xfrm>
          <a:prstGeom prst="rect">
            <a:avLst/>
          </a:prstGeom>
          <a:solidFill>
            <a:srgbClr val="111F3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25112" y="4187952"/>
            <a:ext cx="3630168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25112" y="4352544"/>
            <a:ext cx="363016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590+</a:t>
            </a:r>
            <a:endParaRPr lang="en-US" sz="4000" dirty="0"/>
          </a:p>
        </p:txBody>
      </p:sp>
      <p:sp>
        <p:nvSpPr>
          <p:cNvPr id="29" name="Text 27"/>
          <p:cNvSpPr/>
          <p:nvPr/>
        </p:nvSpPr>
        <p:spPr>
          <a:xfrm>
            <a:off x="4507992" y="5212080"/>
            <a:ext cx="326440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 in platform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read-only, production-safe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238744" y="4187952"/>
            <a:ext cx="3630168" cy="2240280"/>
          </a:xfrm>
          <a:prstGeom prst="rect">
            <a:avLst/>
          </a:prstGeom>
          <a:solidFill>
            <a:srgbClr val="111F3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38744" y="4187952"/>
            <a:ext cx="3630168" cy="6400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38744" y="4352544"/>
            <a:ext cx="363016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000" dirty="0"/>
          </a:p>
        </p:txBody>
      </p:sp>
      <p:sp>
        <p:nvSpPr>
          <p:cNvPr id="33" name="Text 31"/>
          <p:cNvSpPr/>
          <p:nvPr/>
        </p:nvSpPr>
        <p:spPr>
          <a:xfrm>
            <a:off x="8421624" y="5212080"/>
            <a:ext cx="326440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Sippy writes without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operator confirmation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92608"/>
            <a:ext cx="1426464" cy="2560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92608"/>
            <a:ext cx="1426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WHY BITSAUTO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11338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Bitsauto vs. Generic Monitoring Tools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1243584"/>
            <a:ext cx="11338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for Sippy environments — not a generic network monitor wrapped in VoIP branding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6537960"/>
            <a:ext cx="11365992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58368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BITSAUTO VoIP Intelligence Platform  ·  Confidential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686800" y="6583680"/>
            <a:ext cx="3090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E7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vo-ip-watcher--junaid70.replit.app</a:t>
            </a:r>
            <a:endParaRPr lang="en-US" sz="7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719072"/>
          <a:ext cx="11365992" cy="4709160"/>
        </p:xfrm>
        <a:graphic>
          <a:graphicData uri="http://schemas.openxmlformats.org/drawingml/2006/table">
            <a:tbl>
              <a:tblPr/>
              <a:tblGrid>
                <a:gridCol w="3566160"/>
                <a:gridCol w="2103120"/>
                <a:gridCol w="2651760"/>
                <a:gridCol w="249631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Bitsauto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 NOC Tools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Ops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 Sippy XML-RPC Integration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Built-in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Partial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FAS/IRSF Fraud Detection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Real-time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Plugin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Manual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Entity Verdict (3-signal fusion)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Built-in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 Impact Pre-Simulation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Pre-execution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Ops Anomaly Engine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Deterministic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Black-box ML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LCR &amp; Margin Analytics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Integrated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Separate product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Multi-Switch NOC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Up to 10+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SNMP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Read-Only Production Safety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Architecture-locked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Varies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High risk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7-Tier Carrier Verdict System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Live scoring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92608"/>
            <a:ext cx="1234440" cy="256032"/>
          </a:xfrm>
          <a:prstGeom prst="rect">
            <a:avLst/>
          </a:prstGeom>
          <a:solidFill>
            <a:srgbClr val="00C4A7"/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92608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DEPLOYMENT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11338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Deployment, Integration &amp; Go-Live in 7 Days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1243584"/>
            <a:ext cx="11338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Cloud-native, zero-agent architecture — connects to your Sippy instance with just 3 credentials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6537960"/>
            <a:ext cx="11365992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58368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BITSAUTO VoIP Intelligence Platform  ·  Confidential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686800" y="6583680"/>
            <a:ext cx="3090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E7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vo-ip-watcher--junaid70.replit.app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11480" y="1764792"/>
            <a:ext cx="2148840" cy="4389120"/>
          </a:xfrm>
          <a:prstGeom prst="rect">
            <a:avLst/>
          </a:prstGeom>
          <a:solidFill>
            <a:srgbClr val="111F3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1764792"/>
            <a:ext cx="2148840" cy="64008"/>
          </a:xfrm>
          <a:prstGeom prst="rect">
            <a:avLst/>
          </a:prstGeom>
          <a:solidFill>
            <a:srgbClr val="1E78D9"/>
          </a:solidFill>
          <a:ln w="12700">
            <a:solidFill>
              <a:srgbClr val="1E78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901952"/>
            <a:ext cx="2148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7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84632" y="2423160"/>
            <a:ext cx="20025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Setup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2880360"/>
            <a:ext cx="187452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971800"/>
            <a:ext cx="19659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Sippy XML-RPC</a:t>
            </a:r>
            <a:endParaRPr lang="en-US" sz="9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Portal credentials.</a:t>
            </a:r>
            <a:endParaRPr lang="en-US" sz="9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agent install required on</a:t>
            </a:r>
            <a:endParaRPr lang="en-US" sz="9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Sippy server.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76072" y="4956048"/>
            <a:ext cx="1819656" cy="868680"/>
          </a:xfrm>
          <a:prstGeom prst="rect">
            <a:avLst/>
          </a:prstGeom>
          <a:solidFill>
            <a:srgbClr val="000000"/>
          </a:solidFill>
          <a:ln w="12700">
            <a:solidFill>
              <a:srgbClr val="1E78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" y="4956048"/>
            <a:ext cx="1819656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7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76072" y="5276088"/>
            <a:ext cx="181965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7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752344" y="1764792"/>
            <a:ext cx="2148840" cy="4389120"/>
          </a:xfrm>
          <a:prstGeom prst="rect">
            <a:avLst/>
          </a:prstGeom>
          <a:solidFill>
            <a:srgbClr val="111F3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52344" y="1764792"/>
            <a:ext cx="2148840" cy="64008"/>
          </a:xfrm>
          <a:prstGeom prst="rect">
            <a:avLst/>
          </a:prstGeom>
          <a:solidFill>
            <a:srgbClr val="00C4A7"/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52344" y="1901952"/>
            <a:ext cx="2148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2825496" y="2423160"/>
            <a:ext cx="20025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Config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889504" y="2880360"/>
            <a:ext cx="187452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43784" y="2971800"/>
            <a:ext cx="19659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switch URL and admin</a:t>
            </a:r>
            <a:endParaRPr lang="en-US" sz="9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credentials. Multi-switch</a:t>
            </a:r>
            <a:endParaRPr lang="en-US" sz="9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enabled from</a:t>
            </a:r>
            <a:endParaRPr lang="en-US" sz="9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916936" y="4956048"/>
            <a:ext cx="1819656" cy="8686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16936" y="4956048"/>
            <a:ext cx="1819656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C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916936" y="5276088"/>
            <a:ext cx="181965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093208" y="1764792"/>
            <a:ext cx="2148840" cy="4389120"/>
          </a:xfrm>
          <a:prstGeom prst="rect">
            <a:avLst/>
          </a:prstGeom>
          <a:solidFill>
            <a:srgbClr val="111F3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93208" y="1764792"/>
            <a:ext cx="214884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93208" y="1901952"/>
            <a:ext cx="2148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5166360" y="2423160"/>
            <a:ext cx="20025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Calibration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230368" y="2880360"/>
            <a:ext cx="187452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84648" y="2971800"/>
            <a:ext cx="19659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auto-learns</a:t>
            </a:r>
            <a:endParaRPr lang="en-US" sz="9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KPI baselines.</a:t>
            </a:r>
            <a:endParaRPr lang="en-US" sz="9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ASR/ACD/PDD/MOS reference</a:t>
            </a:r>
            <a:endParaRPr lang="en-US" sz="9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established.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257800" y="4956048"/>
            <a:ext cx="1819656" cy="868680"/>
          </a:xfrm>
          <a:prstGeom prst="rect">
            <a:avLst/>
          </a:prstGeom>
          <a:solidFill>
            <a:srgbClr val="00000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57800" y="4956048"/>
            <a:ext cx="1819656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257800" y="5276088"/>
            <a:ext cx="181965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2–5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7434072" y="1764792"/>
            <a:ext cx="2148840" cy="4389120"/>
          </a:xfrm>
          <a:prstGeom prst="rect">
            <a:avLst/>
          </a:prstGeom>
          <a:solidFill>
            <a:srgbClr val="111F3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434072" y="1764792"/>
            <a:ext cx="214884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34072" y="1901952"/>
            <a:ext cx="2148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40" name="Text 38"/>
          <p:cNvSpPr/>
          <p:nvPr/>
        </p:nvSpPr>
        <p:spPr>
          <a:xfrm>
            <a:off x="7507224" y="2423160"/>
            <a:ext cx="20025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Onboarding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7571232" y="2880360"/>
            <a:ext cx="187452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525512" y="2971800"/>
            <a:ext cx="19659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assignments for NOC,</a:t>
            </a:r>
            <a:endParaRPr lang="en-US" sz="9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 and Management teams.</a:t>
            </a:r>
            <a:endParaRPr lang="en-US" sz="9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dashboards</a:t>
            </a:r>
            <a:endParaRPr lang="en-US" sz="9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role configured.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598664" y="4956048"/>
            <a:ext cx="1819656" cy="868680"/>
          </a:xfrm>
          <a:prstGeom prst="rect">
            <a:avLst/>
          </a:prstGeom>
          <a:solidFill>
            <a:srgbClr val="0000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598664" y="4956048"/>
            <a:ext cx="1819656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598664" y="5276088"/>
            <a:ext cx="181965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5–7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9774936" y="1764792"/>
            <a:ext cx="2148840" cy="4389120"/>
          </a:xfrm>
          <a:prstGeom prst="rect">
            <a:avLst/>
          </a:prstGeom>
          <a:solidFill>
            <a:srgbClr val="111F3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774936" y="1764792"/>
            <a:ext cx="214884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774936" y="1901952"/>
            <a:ext cx="2148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600" dirty="0"/>
          </a:p>
        </p:txBody>
      </p:sp>
      <p:sp>
        <p:nvSpPr>
          <p:cNvPr id="49" name="Text 47"/>
          <p:cNvSpPr/>
          <p:nvPr/>
        </p:nvSpPr>
        <p:spPr>
          <a:xfrm>
            <a:off x="9848088" y="2423160"/>
            <a:ext cx="20025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Operations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9912096" y="2880360"/>
            <a:ext cx="187452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866376" y="2971800"/>
            <a:ext cx="19659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monitoring, alerting,</a:t>
            </a:r>
            <a:endParaRPr lang="en-US" sz="9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Ops &amp; verdict engine</a:t>
            </a:r>
            <a:endParaRPr lang="en-US" sz="9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on your</a:t>
            </a:r>
            <a:endParaRPr lang="en-US" sz="9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production traffic.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9939528" y="4956048"/>
            <a:ext cx="1819656" cy="868680"/>
          </a:xfrm>
          <a:prstGeom prst="rect">
            <a:avLst/>
          </a:prstGeom>
          <a:solidFill>
            <a:srgbClr val="00000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939528" y="4956048"/>
            <a:ext cx="1819656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9939528" y="5276088"/>
            <a:ext cx="181965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7+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411480" y="6291072"/>
            <a:ext cx="11365992" cy="457200"/>
          </a:xfrm>
          <a:prstGeom prst="rect">
            <a:avLst/>
          </a:prstGeom>
          <a:solidFill>
            <a:srgbClr val="1621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48640" y="6291072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Stack: React + Vite  ·  Express TypeScript  ·  PostgreSQL + Drizzle ORM  ·  Sippy XML-RPC  ·  WebSocket Push NOC  ·  Replit Cloud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E78D9"/>
          </a:solidFill>
          <a:ln w="12700">
            <a:solidFill>
              <a:srgbClr val="1E78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57200"/>
            <a:ext cx="113659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1E7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BITSAUTO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1005840"/>
            <a:ext cx="113659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See It on Your Own Traffic?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371600" y="1737360"/>
            <a:ext cx="9537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 live demo on your Sippy instance — see your own carriers, your own KPIs, your own fraud events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188720" y="2423160"/>
            <a:ext cx="3108960" cy="2468880"/>
          </a:xfrm>
          <a:prstGeom prst="rect">
            <a:avLst/>
          </a:prstGeom>
          <a:solidFill>
            <a:srgbClr val="111F3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8720" y="2423160"/>
            <a:ext cx="3108960" cy="64008"/>
          </a:xfrm>
          <a:prstGeom prst="rect">
            <a:avLst/>
          </a:prstGeom>
          <a:solidFill>
            <a:srgbClr val="1E78D9"/>
          </a:solidFill>
          <a:ln w="12700">
            <a:solidFill>
              <a:srgbClr val="1E78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257860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7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280160" y="312724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25880" y="356616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1-hour session on your Sippy instance</a:t>
            </a:r>
            <a:endParaRPr lang="en-US" sz="10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real carrier health verdicts live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0" y="2423160"/>
            <a:ext cx="3108960" cy="2468880"/>
          </a:xfrm>
          <a:prstGeom prst="rect">
            <a:avLst/>
          </a:prstGeom>
          <a:solidFill>
            <a:srgbClr val="111F3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2423160"/>
            <a:ext cx="3108960" cy="64008"/>
          </a:xfrm>
          <a:prstGeom prst="rect">
            <a:avLst/>
          </a:prstGeom>
          <a:solidFill>
            <a:srgbClr val="00C4A7"/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257860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C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663440" y="312724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14-Day POC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09160" y="356616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feature access on production traffic</a:t>
            </a:r>
            <a:endParaRPr lang="en-US" sz="10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commitment, zero disruption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955280" y="2423160"/>
            <a:ext cx="3108960" cy="2468880"/>
          </a:xfrm>
          <a:prstGeom prst="rect">
            <a:avLst/>
          </a:prstGeom>
          <a:solidFill>
            <a:srgbClr val="111F3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2423160"/>
            <a:ext cx="310896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55280" y="257860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046720" y="312724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092440" y="356616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deployment, team fully trained</a:t>
            </a:r>
            <a:endParaRPr lang="en-US" sz="10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NOC operations from Day 7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188720" y="5138928"/>
            <a:ext cx="960120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5321808"/>
            <a:ext cx="113659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7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vo-ip-watcher--junaid70.replit.app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11480" y="5760720"/>
            <a:ext cx="11365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is live — request access credentials from your account manager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11480" y="6080760"/>
            <a:ext cx="113659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· UAE  |  Omantel · Oman  |  PTCL · Pakistan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2026-05-17T10:45:18Z</dcterms:created>
  <dcterms:modified xsi:type="dcterms:W3CDTF">2026-05-17T10:45:18Z</dcterms:modified>
</cp:coreProperties>
</file>